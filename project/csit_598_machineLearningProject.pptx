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2329"/>
  </p:normalViewPr>
  <p:slideViewPr>
    <p:cSldViewPr snapToGrid="0" snapToObjects="1">
      <p:cViewPr varScale="1">
        <p:scale>
          <a:sx n="120" d="100"/>
          <a:sy n="120" d="100"/>
        </p:scale>
        <p:origin x="13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64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"Decorrelated Variable Importance" by Verdinelli and Wasserman, published in JMLR 2024. You can see the five sections we'll walk through along the bottom: Background, Contributions, Methodology, Results, and Future Directions.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machine learning moves into high-stakes domains : credit scoring, medical diagnosis, policy decisions ,  we increasingly need to understand which features are actually driving a model's predictions. The standard tool for this is called LOCO, Leave Out COvariates, shown on the left. The idea is simple: measure how much worse prediction gets when you remove a variable. Big drop means it was important.
But there's a fundamental flaw -and the right card shows it concretely. In a simple linear model Y equals beta X plus theta Z, the true importance of X is beta - that number doesn't change based on whether X and Z happen to be correlated. But LOCO gives beta squared times gamma squared, where gamma squared is the residual variance of X after accounting for Z. As the correlation between X and Z approaches 1, gamma goes to zero - and so does LOCO's estimate of importance - even when beta is large and X genuinely drives the outcome. This is correlation distortion which this paper tries to fix.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makes four concrete contributions, shown in the four cards.
First, it defines psi-zero : a modified variable importance parameter that is genuinely invariant to the correlation between X and Z. It does this by imagining a counterfactual world where X and Z are made independent, and asking what importance X would have there.
Second, since psi-zero can't be estimated nonparametrically in practice : the paper proposes two semiparametric estimators, psi-two and psi-three, with provable asymptotic guarantees.
Third, the t-Cross confidence interval method. LOCO is a quadratic functional, which means near psi equals zero, the estimator's limiting distribution shifts from Normal to chi-squared - so standard confidence intervals break down. The t-Cross method, which combines cross-fitting and t-inference across five data folds, avoids this breakdown and gives valid coverage throughout.
Fourth, a formal critique of Shapley values - showing they do not solve correlation distortion.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diagram at the top tells the whole story at a glance. We start with standard LOCO on the left - it drops X and measures prediction loss. The orange box shows the problem: as correlation rises, psi-L collapses toward zero. The teal box is the ideal conceptual fix : psi-zero, asking "what if X and Z had been independent?" And the navy box on the right is the practical implementation: psi-three with a semiparametric model and t-Cross confidence intervals.
Now the three cards below show the three practical estimators in more detail. Psi-one is the simplest , just drop any Z variable whose correlation with X exceeds 0.5, then run standard LOCO. Easy to implement, but unstable right at the threshold.
Psi-two uses a partially linear model: Y equals beta-transpose X plus f of Z. Under this model, psi-zero simplifies to beta-transpose times Sigma-X times beta. Importantly, this estimator is doubly robust , meaning it gives consistent estimates even if you get one of the two nuisance functions wrong. The limitation is it misses interaction effects between X and Z.
Psi-three extends the model to include those interactions , X-j times Z-k terms , and still has a clean closed form theta-transpose Omega theta. It also has the double robustness property, and in simulations it performs best across the board , though it does require additive nuisance estimation rather than simple linear models.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coverage of the true psi-zero across four simulation examples, each with n equals ten thousand and one hundred replications. The goal is to hit ninety percent , the nominal level , shown in green.
Looking at the rows: psi-L, standard LOCO, nearly always fails , it's targeting the wrong quantity in correlated settings. The one exception is Example 4 in the third column, the uncorrelated case, where it hits 98%. That's actually an important sanity check , LOCO isn't wrong universally, just specifically when features are correlated.
The nonparametric psi-zero is erratic , good in some cases but only 20% in Example 4 , because direct nonparametric estimation requires extrapolating the regression function into data-sparse regions, which breaks down badly under high correlation.
Psi-three with additive nuisance estimation , the highlighted row , is the clear winner: 97, 92, 98, and 85 percent across the four examples. Consistently near or at the nominal level.
The reproduced results box at the bottom is worth calling out. Running the authors' R scripts , which use the mgcv package for additive models and grf for random forests , on Example 1 confirmed exactly what Figure 2 in the paper shows: psi-L coverage collapses from around 95% to near zero as correlation rho increases from zero to one, while psi-three stays at roughly 90% throughout.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Shapley values have become very popular, especially through the SHAP library. People often assume they fix the correlation problem , the paper formally shows they don't.
The top-left card shows what Shapley values actually do: they average LOCO over all possible subsets of variables. The axioms are appealing , they come from cooperative game theory , but that's also the root of the problem.
The top-right card gives the clearest counterexample: if Y equals beta Z-one plus epsilon, and all d variables are perfectly correlated with each other, each variable's Shapley value is beta-squared over d , which goes to zero as d grows. Meanwhile psi-zero correctly gives beta-squared regardless. The more correlated your features, the more Shapley underestimates each one.
The bottom-left adds a second problem: Shapley averages over all two-to-the-d subsets, most of which are poor-fitting models with no practical relevance. Why should importance in a model with only two variables out of fifty affect the answer in the full model?
That said , and the bottom-right card makes this point explicitly , Shapley values are appropriate when features are genuinely independent, for example in designed computer experiments where you control the inputs. In that setting the correlation problem doesn't arise. For observational regression data with correlated features, decorrelated LOCO is the more principled choice.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themselves flag one future direction: extending the framework to high-dimensional settings using sparsity-based estimators for the nuisance functions. That's noted in the teal banner at the top.
But the direction I want to highlight , shown in the main card , is one they don't discuss at all, and I think it's both practically important and technically rich.
The current framework assumes i.i.d. data and a static correlation structure between X and Z. That assumption breaks in time-series and longitudinal settings, where the correlation between features changes over time , and where practitioners often care not just about whether X matters, but when.
The gap column lays this out: think of electronic health records, financial time series, or clinical trial data. In all of these, a variable might be important in the early period and irrelevant later, or vice versa.
The idea column proposes extending psi-three with a time-indexed semiparametric model: mu of x, z, t equals beta-transpose of t times X plus f of z, t. This makes the decorrelated parameter time-varying , psi-zero of t , a trajectory of importance over time rather than a single number. This connects naturally to Marginal Structural Models, or MSMs, which are already the standard tool for longitudinal causal inference.
The why-it-matters column rounds this out: a time-varying decorrelated importance measure would unlock principled interpretability for sequential prediction models and strengthen causal claims in longitudinal studies.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let me walk through the five points on screen.
First — the problem: standard LOCO is distorted by feature correlation. It's a widely used metric that quietly gives wrong answers whenever features are correlated, which is nearly always in real data.
Second — the theoretical fix: psi-zero eliminates this distortion by using a counterfactual independence distribution. The estimand is correct, but direct nonparametric estimation is impractical.
Third — the practical fix: use psi-three, the partially linear model with interactions, paired with additive nuisance estimation and t-Cross confidence intervals. This is what actually works in simulations.
Fourth — Shapley values are not the solution. Despite their popularity, they inherit the same correlation distortion, and they average over submodels that are irrelevant to the analysis.
Fifth — future work: extending this framework to time-varying settings for longitudinal and causal data is a compelling open direction that builds directly on everything in this paper.
Thank you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47"/>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0D9488"/>
          </a:solidFill>
          <a:ln/>
        </p:spPr>
        <p:txBody>
          <a:bodyPr/>
          <a:lstStyle/>
          <a:p>
            <a:endParaRPr lang="en-US" dirty="0"/>
          </a:p>
        </p:txBody>
      </p:sp>
      <p:sp>
        <p:nvSpPr>
          <p:cNvPr id="3" name="Text 1"/>
          <p:cNvSpPr/>
          <p:nvPr/>
        </p:nvSpPr>
        <p:spPr>
          <a:xfrm>
            <a:off x="548640" y="822960"/>
            <a:ext cx="5852160" cy="2103120"/>
          </a:xfrm>
          <a:prstGeom prst="rect">
            <a:avLst/>
          </a:prstGeom>
          <a:noFill/>
          <a:ln/>
        </p:spPr>
        <p:txBody>
          <a:bodyPr wrap="square"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Decorrelated</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Variable Importance</a:t>
            </a:r>
            <a:endParaRPr lang="en-US" sz="4000" dirty="0"/>
          </a:p>
        </p:txBody>
      </p:sp>
      <p:sp>
        <p:nvSpPr>
          <p:cNvPr id="4" name="Text 2"/>
          <p:cNvSpPr/>
          <p:nvPr/>
        </p:nvSpPr>
        <p:spPr>
          <a:xfrm>
            <a:off x="548640" y="3017520"/>
            <a:ext cx="5852160" cy="365760"/>
          </a:xfrm>
          <a:prstGeom prst="rect">
            <a:avLst/>
          </a:prstGeom>
          <a:noFill/>
          <a:ln/>
        </p:spPr>
        <p:txBody>
          <a:bodyPr wrap="square" rtlCol="0" anchor="ctr"/>
          <a:lstStyle/>
          <a:p>
            <a:pPr marL="0" indent="0">
              <a:buNone/>
            </a:pPr>
            <a:r>
              <a:rPr lang="en-US" sz="1400" dirty="0">
                <a:solidFill>
                  <a:srgbClr val="CCEDE9"/>
                </a:solidFill>
                <a:latin typeface="Calibri" pitchFamily="34" charset="0"/>
                <a:ea typeface="Calibri" pitchFamily="34" charset="-122"/>
                <a:cs typeface="Calibri" pitchFamily="34" charset="-120"/>
              </a:rPr>
              <a:t>Verdinelli &amp; Wasserman  ·  JMLR 2024</a:t>
            </a:r>
            <a:endParaRPr lang="en-US" sz="1400" dirty="0"/>
          </a:p>
        </p:txBody>
      </p:sp>
      <p:sp>
        <p:nvSpPr>
          <p:cNvPr id="5" name="Text 3"/>
          <p:cNvSpPr/>
          <p:nvPr/>
        </p:nvSpPr>
        <p:spPr>
          <a:xfrm>
            <a:off x="548640" y="3474720"/>
            <a:ext cx="5852160" cy="4572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Quantifying feature importance without correlation distortion</a:t>
            </a:r>
            <a:endParaRPr lang="en-US" sz="1300" dirty="0"/>
          </a:p>
        </p:txBody>
      </p:sp>
      <p:sp>
        <p:nvSpPr>
          <p:cNvPr id="6" name="Shape 4"/>
          <p:cNvSpPr/>
          <p:nvPr/>
        </p:nvSpPr>
        <p:spPr>
          <a:xfrm>
            <a:off x="548640" y="4206240"/>
            <a:ext cx="1078992" cy="548640"/>
          </a:xfrm>
          <a:prstGeom prst="rect">
            <a:avLst/>
          </a:prstGeom>
          <a:solidFill>
            <a:srgbClr val="0D9488"/>
          </a:solidFill>
          <a:ln/>
        </p:spPr>
        <p:txBody>
          <a:bodyPr/>
          <a:lstStyle/>
          <a:p>
            <a:endParaRPr lang="en-US"/>
          </a:p>
        </p:txBody>
      </p:sp>
      <p:sp>
        <p:nvSpPr>
          <p:cNvPr id="7" name="Text 5"/>
          <p:cNvSpPr/>
          <p:nvPr/>
        </p:nvSpPr>
        <p:spPr>
          <a:xfrm>
            <a:off x="548640" y="4206240"/>
            <a:ext cx="1078992" cy="5486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Background</a:t>
            </a:r>
            <a:endParaRPr lang="en-US" sz="1000" dirty="0"/>
          </a:p>
        </p:txBody>
      </p:sp>
      <p:sp>
        <p:nvSpPr>
          <p:cNvPr id="8" name="Shape 6"/>
          <p:cNvSpPr/>
          <p:nvPr/>
        </p:nvSpPr>
        <p:spPr>
          <a:xfrm>
            <a:off x="1719072" y="4206240"/>
            <a:ext cx="1078992" cy="548640"/>
          </a:xfrm>
          <a:prstGeom prst="rect">
            <a:avLst/>
          </a:prstGeom>
          <a:solidFill>
            <a:srgbClr val="1C4B7A"/>
          </a:solidFill>
          <a:ln/>
        </p:spPr>
        <p:txBody>
          <a:bodyPr/>
          <a:lstStyle/>
          <a:p>
            <a:endParaRPr lang="en-US"/>
          </a:p>
        </p:txBody>
      </p:sp>
      <p:sp>
        <p:nvSpPr>
          <p:cNvPr id="9" name="Text 7"/>
          <p:cNvSpPr/>
          <p:nvPr/>
        </p:nvSpPr>
        <p:spPr>
          <a:xfrm>
            <a:off x="1719072" y="4206240"/>
            <a:ext cx="1078992" cy="5486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Contributions</a:t>
            </a:r>
            <a:endParaRPr lang="en-US" sz="1000" dirty="0"/>
          </a:p>
        </p:txBody>
      </p:sp>
      <p:sp>
        <p:nvSpPr>
          <p:cNvPr id="10" name="Shape 8"/>
          <p:cNvSpPr/>
          <p:nvPr/>
        </p:nvSpPr>
        <p:spPr>
          <a:xfrm>
            <a:off x="2889504" y="4206240"/>
            <a:ext cx="1078992" cy="548640"/>
          </a:xfrm>
          <a:prstGeom prst="rect">
            <a:avLst/>
          </a:prstGeom>
          <a:solidFill>
            <a:srgbClr val="1C4B7A"/>
          </a:solidFill>
          <a:ln/>
        </p:spPr>
        <p:txBody>
          <a:bodyPr/>
          <a:lstStyle/>
          <a:p>
            <a:endParaRPr lang="en-US"/>
          </a:p>
        </p:txBody>
      </p:sp>
      <p:sp>
        <p:nvSpPr>
          <p:cNvPr id="11" name="Text 9"/>
          <p:cNvSpPr/>
          <p:nvPr/>
        </p:nvSpPr>
        <p:spPr>
          <a:xfrm>
            <a:off x="2889504" y="4206240"/>
            <a:ext cx="1078992" cy="5486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Methodology</a:t>
            </a:r>
            <a:endParaRPr lang="en-US" sz="1000" dirty="0"/>
          </a:p>
        </p:txBody>
      </p:sp>
      <p:sp>
        <p:nvSpPr>
          <p:cNvPr id="12" name="Shape 10"/>
          <p:cNvSpPr/>
          <p:nvPr/>
        </p:nvSpPr>
        <p:spPr>
          <a:xfrm>
            <a:off x="4059936" y="4206240"/>
            <a:ext cx="1078992" cy="548640"/>
          </a:xfrm>
          <a:prstGeom prst="rect">
            <a:avLst/>
          </a:prstGeom>
          <a:solidFill>
            <a:srgbClr val="1C4B7A"/>
          </a:solidFill>
          <a:ln/>
        </p:spPr>
        <p:txBody>
          <a:bodyPr/>
          <a:lstStyle/>
          <a:p>
            <a:endParaRPr lang="en-US"/>
          </a:p>
        </p:txBody>
      </p:sp>
      <p:sp>
        <p:nvSpPr>
          <p:cNvPr id="13" name="Text 11"/>
          <p:cNvSpPr/>
          <p:nvPr/>
        </p:nvSpPr>
        <p:spPr>
          <a:xfrm>
            <a:off x="4059936" y="4206240"/>
            <a:ext cx="1078992" cy="5486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Results</a:t>
            </a:r>
            <a:endParaRPr lang="en-US" sz="1000" dirty="0"/>
          </a:p>
        </p:txBody>
      </p:sp>
      <p:sp>
        <p:nvSpPr>
          <p:cNvPr id="14" name="Shape 12"/>
          <p:cNvSpPr/>
          <p:nvPr/>
        </p:nvSpPr>
        <p:spPr>
          <a:xfrm>
            <a:off x="5230368" y="4206240"/>
            <a:ext cx="1078992" cy="548640"/>
          </a:xfrm>
          <a:prstGeom prst="rect">
            <a:avLst/>
          </a:prstGeom>
          <a:solidFill>
            <a:srgbClr val="1C4B7A"/>
          </a:solidFill>
          <a:ln/>
        </p:spPr>
        <p:txBody>
          <a:bodyPr/>
          <a:lstStyle/>
          <a:p>
            <a:endParaRPr lang="en-US"/>
          </a:p>
        </p:txBody>
      </p:sp>
      <p:sp>
        <p:nvSpPr>
          <p:cNvPr id="15" name="Text 13"/>
          <p:cNvSpPr/>
          <p:nvPr/>
        </p:nvSpPr>
        <p:spPr>
          <a:xfrm>
            <a:off x="5230368" y="4206240"/>
            <a:ext cx="1078992" cy="5486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Future Directions</a:t>
            </a:r>
            <a:endParaRPr lang="en-US" sz="1000" dirty="0"/>
          </a:p>
        </p:txBody>
      </p:sp>
      <p:sp>
        <p:nvSpPr>
          <p:cNvPr id="17" name="TextBox 16">
            <a:extLst>
              <a:ext uri="{FF2B5EF4-FFF2-40B4-BE49-F238E27FC236}">
                <a16:creationId xmlns:a16="http://schemas.microsoft.com/office/drawing/2014/main" id="{92F552BE-7E74-E238-9389-283A9B9DE321}"/>
              </a:ext>
            </a:extLst>
          </p:cNvPr>
          <p:cNvSpPr txBox="1"/>
          <p:nvPr/>
        </p:nvSpPr>
        <p:spPr>
          <a:xfrm>
            <a:off x="6772940" y="4480560"/>
            <a:ext cx="2115879" cy="523220"/>
          </a:xfrm>
          <a:prstGeom prst="rect">
            <a:avLst/>
          </a:prstGeom>
          <a:noFill/>
        </p:spPr>
        <p:txBody>
          <a:bodyPr wrap="square" rtlCol="0">
            <a:spAutoFit/>
          </a:bodyPr>
          <a:lstStyle/>
          <a:p>
            <a:r>
              <a:rPr lang="en-US" sz="1400" dirty="0">
                <a:solidFill>
                  <a:schemeClr val="bg1"/>
                </a:solidFill>
              </a:rPr>
              <a:t>Neeraj Kumar Singh</a:t>
            </a:r>
          </a:p>
          <a:p>
            <a:r>
              <a:rPr lang="en-US" sz="1400" dirty="0">
                <a:solidFill>
                  <a:schemeClr val="bg1"/>
                </a:solidFill>
              </a:rPr>
              <a:t>50161756</a:t>
            </a:r>
          </a:p>
        </p:txBody>
      </p:sp>
    </p:spTree>
  </p:cSld>
  <p:clrMapOvr>
    <a:masterClrMapping/>
  </p:clrMapOvr>
  <mc:AlternateContent xmlns:mc="http://schemas.openxmlformats.org/markup-compatibility/2006" xmlns:p14="http://schemas.microsoft.com/office/powerpoint/2010/main">
    <mc:Choice Requires="p14">
      <p:transition spd="slow" p14:dur="2000" advTm="16755"/>
    </mc:Choice>
    <mc:Fallback xmlns="">
      <p:transition spd="slow" advTm="1675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2647"/>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Background &amp; Motivation</a:t>
            </a:r>
            <a:endParaRPr lang="en-US" sz="2400" dirty="0"/>
          </a:p>
        </p:txBody>
      </p:sp>
      <p:sp>
        <p:nvSpPr>
          <p:cNvPr id="4" name="Shape 2"/>
          <p:cNvSpPr/>
          <p:nvPr/>
        </p:nvSpPr>
        <p:spPr>
          <a:xfrm>
            <a:off x="320040" y="987552"/>
            <a:ext cx="5029200" cy="3977640"/>
          </a:xfrm>
          <a:prstGeom prst="rect">
            <a:avLst/>
          </a:prstGeom>
          <a:solidFill>
            <a:srgbClr val="FFFFFF"/>
          </a:solidFill>
          <a:ln/>
          <a:effectLst>
            <a:outerShdw blurRad="101600" dist="38100" dir="8100000" algn="bl" rotWithShape="0">
              <a:srgbClr val="000000">
                <a:alpha val="9000"/>
              </a:srgbClr>
            </a:outerShdw>
          </a:effectLst>
        </p:spPr>
        <p:txBody>
          <a:bodyPr/>
          <a:lstStyle/>
          <a:p>
            <a:endParaRPr lang="en-US"/>
          </a:p>
        </p:txBody>
      </p:sp>
      <p:sp>
        <p:nvSpPr>
          <p:cNvPr id="5" name="Shape 3"/>
          <p:cNvSpPr/>
          <p:nvPr/>
        </p:nvSpPr>
        <p:spPr>
          <a:xfrm>
            <a:off x="320040" y="987552"/>
            <a:ext cx="64008" cy="3977640"/>
          </a:xfrm>
          <a:prstGeom prst="rect">
            <a:avLst/>
          </a:prstGeom>
          <a:solidFill>
            <a:srgbClr val="0D9488"/>
          </a:solidFill>
          <a:ln/>
        </p:spPr>
        <p:txBody>
          <a:bodyPr/>
          <a:lstStyle/>
          <a:p>
            <a:endParaRPr lang="en-US"/>
          </a:p>
        </p:txBody>
      </p:sp>
      <p:sp>
        <p:nvSpPr>
          <p:cNvPr id="6" name="Text 4"/>
          <p:cNvSpPr/>
          <p:nvPr/>
        </p:nvSpPr>
        <p:spPr>
          <a:xfrm>
            <a:off x="502920" y="1078992"/>
            <a:ext cx="466344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Why variable importance matters</a:t>
            </a:r>
            <a:endParaRPr lang="en-US" sz="1400" dirty="0"/>
          </a:p>
        </p:txBody>
      </p:sp>
      <p:sp>
        <p:nvSpPr>
          <p:cNvPr id="7" name="Text 5"/>
          <p:cNvSpPr/>
          <p:nvPr/>
        </p:nvSpPr>
        <p:spPr>
          <a:xfrm>
            <a:off x="502920" y="1508760"/>
            <a:ext cx="4663440" cy="329184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Black-box models (random forests, neural nets) are increasingly used for high-stakes decisions — credit, medicine, policy.</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We need to understand </a:t>
            </a:r>
            <a:r>
              <a:rPr lang="en-US" sz="1250" b="1" dirty="0">
                <a:solidFill>
                  <a:srgbClr val="1E293B"/>
                </a:solidFill>
                <a:latin typeface="Calibri" pitchFamily="34" charset="0"/>
                <a:ea typeface="Calibri" pitchFamily="34" charset="-122"/>
                <a:cs typeface="Calibri" pitchFamily="34" charset="-120"/>
              </a:rPr>
              <a:t>which features drive predictions</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1E293B"/>
                </a:solidFill>
                <a:latin typeface="Calibri" pitchFamily="34" charset="0"/>
                <a:ea typeface="Calibri" pitchFamily="34" charset="-122"/>
                <a:cs typeface="Calibri" pitchFamily="34" charset="-120"/>
              </a:rPr>
              <a:t>LOCO (Leave Out COvariates)</a:t>
            </a:r>
            <a:r>
              <a:rPr lang="en-US" sz="1250" dirty="0">
                <a:solidFill>
                  <a:srgbClr val="1E293B"/>
                </a:solidFill>
                <a:latin typeface="Calibri" pitchFamily="34" charset="0"/>
                <a:ea typeface="Calibri" pitchFamily="34" charset="-122"/>
                <a:cs typeface="Calibri" pitchFamily="34" charset="-120"/>
              </a:rPr>
              <a:t> is the standard approach:</a:t>
            </a:r>
            <a:endParaRPr lang="en-US" sz="1250" dirty="0"/>
          </a:p>
          <a:p>
            <a:pPr marL="0" indent="0">
              <a:buNone/>
            </a:pPr>
            <a:r>
              <a:rPr lang="en-US" sz="1250" i="1" dirty="0">
                <a:solidFill>
                  <a:srgbClr val="1E293B"/>
                </a:solidFill>
                <a:latin typeface="Calibri" pitchFamily="34" charset="0"/>
                <a:ea typeface="Calibri" pitchFamily="34" charset="-122"/>
                <a:cs typeface="Calibri" pitchFamily="34" charset="-120"/>
              </a:rPr>
              <a:t>  ψL = E[(μ(Z) − μ(X,Z))²]</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It asks: how much worse is prediction after dropping X?</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DC2626"/>
                </a:solidFill>
                <a:latin typeface="Calibri" pitchFamily="34" charset="0"/>
                <a:ea typeface="Calibri" pitchFamily="34" charset="-122"/>
                <a:cs typeface="Calibri" pitchFamily="34" charset="-120"/>
              </a:rPr>
              <a:t>Problem: </a:t>
            </a:r>
            <a:r>
              <a:rPr lang="en-US" sz="1250" dirty="0">
                <a:solidFill>
                  <a:srgbClr val="DC2626"/>
                </a:solidFill>
                <a:latin typeface="Calibri" pitchFamily="34" charset="0"/>
                <a:ea typeface="Calibri" pitchFamily="34" charset="-122"/>
                <a:cs typeface="Calibri" pitchFamily="34" charset="-120"/>
              </a:rPr>
              <a:t>when X is correlated with Z, ψL → 0 even if X strongly drives Y.</a:t>
            </a:r>
            <a:endParaRPr lang="en-US" sz="1250" dirty="0"/>
          </a:p>
        </p:txBody>
      </p:sp>
      <p:sp>
        <p:nvSpPr>
          <p:cNvPr id="8" name="Shape 6"/>
          <p:cNvSpPr/>
          <p:nvPr/>
        </p:nvSpPr>
        <p:spPr>
          <a:xfrm>
            <a:off x="5577840" y="987552"/>
            <a:ext cx="3246120" cy="3977640"/>
          </a:xfrm>
          <a:prstGeom prst="rect">
            <a:avLst/>
          </a:prstGeom>
          <a:solidFill>
            <a:srgbClr val="FFFFFF"/>
          </a:solidFill>
          <a:ln/>
          <a:effectLst>
            <a:outerShdw blurRad="101600" dist="38100" dir="8100000" algn="bl" rotWithShape="0">
              <a:srgbClr val="000000">
                <a:alpha val="9000"/>
              </a:srgbClr>
            </a:outerShdw>
          </a:effectLst>
        </p:spPr>
        <p:txBody>
          <a:bodyPr/>
          <a:lstStyle/>
          <a:p>
            <a:endParaRPr lang="en-US"/>
          </a:p>
        </p:txBody>
      </p:sp>
      <p:sp>
        <p:nvSpPr>
          <p:cNvPr id="9" name="Shape 7"/>
          <p:cNvSpPr/>
          <p:nvPr/>
        </p:nvSpPr>
        <p:spPr>
          <a:xfrm>
            <a:off x="5577840" y="987552"/>
            <a:ext cx="3246120" cy="64008"/>
          </a:xfrm>
          <a:prstGeom prst="rect">
            <a:avLst/>
          </a:prstGeom>
          <a:solidFill>
            <a:srgbClr val="DC2626"/>
          </a:solidFill>
          <a:ln/>
        </p:spPr>
        <p:txBody>
          <a:bodyPr/>
          <a:lstStyle/>
          <a:p>
            <a:endParaRPr lang="en-US"/>
          </a:p>
        </p:txBody>
      </p:sp>
      <p:sp>
        <p:nvSpPr>
          <p:cNvPr id="10" name="Text 8"/>
          <p:cNvSpPr/>
          <p:nvPr/>
        </p:nvSpPr>
        <p:spPr>
          <a:xfrm>
            <a:off x="5715000" y="1078992"/>
            <a:ext cx="2971800" cy="365760"/>
          </a:xfrm>
          <a:prstGeom prst="rect">
            <a:avLst/>
          </a:prstGeom>
          <a:noFill/>
          <a:ln/>
        </p:spPr>
        <p:txBody>
          <a:bodyPr wrap="square" lIns="0" tIns="0" rIns="0" bIns="0" rtlCol="0" anchor="ctr"/>
          <a:lstStyle/>
          <a:p>
            <a:pPr marL="0" indent="0">
              <a:buNone/>
            </a:pPr>
            <a:r>
              <a:rPr lang="en-US" sz="1400" b="1" dirty="0">
                <a:solidFill>
                  <a:srgbClr val="DC2626"/>
                </a:solidFill>
                <a:latin typeface="Trebuchet MS" pitchFamily="34" charset="0"/>
                <a:ea typeface="Trebuchet MS" pitchFamily="34" charset="-122"/>
                <a:cs typeface="Trebuchet MS" pitchFamily="34" charset="-120"/>
              </a:rPr>
              <a:t>Concrete example</a:t>
            </a:r>
            <a:endParaRPr lang="en-US" sz="1400" dirty="0"/>
          </a:p>
        </p:txBody>
      </p:sp>
      <p:sp>
        <p:nvSpPr>
          <p:cNvPr id="11" name="Text 9"/>
          <p:cNvSpPr/>
          <p:nvPr/>
        </p:nvSpPr>
        <p:spPr>
          <a:xfrm>
            <a:off x="5715000" y="1508760"/>
            <a:ext cx="2971800" cy="3291840"/>
          </a:xfrm>
          <a:prstGeom prst="rect">
            <a:avLst/>
          </a:prstGeom>
          <a:noFill/>
          <a:ln/>
        </p:spPr>
        <p:txBody>
          <a:bodyPr wrap="square" rtlCol="0" anchor="ctr"/>
          <a:lstStyle/>
          <a:p>
            <a:pPr marL="0" indent="0">
              <a:buNone/>
            </a:pPr>
            <a:r>
              <a:rPr lang="en-US" sz="1250" i="1" dirty="0">
                <a:solidFill>
                  <a:srgbClr val="1E293B"/>
                </a:solidFill>
                <a:latin typeface="Calibri" pitchFamily="34" charset="0"/>
                <a:ea typeface="Calibri" pitchFamily="34" charset="-122"/>
                <a:cs typeface="Calibri" pitchFamily="34" charset="-120"/>
              </a:rPr>
              <a:t>Linear model:  Y = βX + θZ + ε</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True importance of X is β — independent of how correlated X and Z are.</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But LOCO gives:</a:t>
            </a:r>
            <a:endParaRPr lang="en-US" sz="1250" dirty="0"/>
          </a:p>
          <a:p>
            <a:pPr marL="0" indent="0">
              <a:buNone/>
            </a:pPr>
            <a:r>
              <a:rPr lang="en-US" sz="1250" i="1" dirty="0">
                <a:solidFill>
                  <a:srgbClr val="1E293B"/>
                </a:solidFill>
                <a:latin typeface="Calibri" pitchFamily="34" charset="0"/>
                <a:ea typeface="Calibri" pitchFamily="34" charset="-122"/>
                <a:cs typeface="Calibri" pitchFamily="34" charset="-120"/>
              </a:rPr>
              <a:t>  ψL = β²γ²,  γ² = Var[X|Z]</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DC2626"/>
                </a:solidFill>
                <a:latin typeface="Calibri" pitchFamily="34" charset="0"/>
                <a:ea typeface="Calibri" pitchFamily="34" charset="-122"/>
                <a:cs typeface="Calibri" pitchFamily="34" charset="-120"/>
              </a:rPr>
              <a:t>As Cor(X,Z) → 1,  γ → 0,  so ψL → 0.</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1E293B"/>
                </a:solidFill>
                <a:latin typeface="Calibri" pitchFamily="34" charset="0"/>
                <a:ea typeface="Calibri" pitchFamily="34" charset="-122"/>
                <a:cs typeface="Calibri" pitchFamily="34" charset="-120"/>
              </a:rPr>
              <a:t>This is correlation distortion.</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2000" advTm="61556"/>
    </mc:Choice>
    <mc:Fallback xmlns="">
      <p:transition spd="slow" advTm="6155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Main Contributions</a:t>
            </a:r>
            <a:endParaRPr lang="en-US" sz="2400" dirty="0"/>
          </a:p>
        </p:txBody>
      </p:sp>
      <p:sp>
        <p:nvSpPr>
          <p:cNvPr id="4" name="Shape 2"/>
          <p:cNvSpPr/>
          <p:nvPr/>
        </p:nvSpPr>
        <p:spPr>
          <a:xfrm>
            <a:off x="320040" y="987552"/>
            <a:ext cx="402336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115568"/>
            <a:ext cx="411480" cy="411480"/>
          </a:xfrm>
          <a:prstGeom prst="ellipse">
            <a:avLst/>
          </a:prstGeom>
          <a:solidFill>
            <a:srgbClr val="0D9488"/>
          </a:solidFill>
          <a:ln/>
        </p:spPr>
        <p:txBody>
          <a:bodyPr/>
          <a:lstStyle/>
          <a:p>
            <a:endParaRPr lang="en-US"/>
          </a:p>
        </p:txBody>
      </p:sp>
      <p:sp>
        <p:nvSpPr>
          <p:cNvPr id="6" name="Text 4"/>
          <p:cNvSpPr/>
          <p:nvPr/>
        </p:nvSpPr>
        <p:spPr>
          <a:xfrm>
            <a:off x="45720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7" name="Text 5"/>
          <p:cNvSpPr/>
          <p:nvPr/>
        </p:nvSpPr>
        <p:spPr>
          <a:xfrm>
            <a:off x="978408" y="1115568"/>
            <a:ext cx="3227832" cy="384048"/>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New Parameter ψ₀ — Decorrelated LOCO</a:t>
            </a:r>
            <a:endParaRPr lang="en-US" sz="1300" dirty="0"/>
          </a:p>
        </p:txBody>
      </p:sp>
      <p:sp>
        <p:nvSpPr>
          <p:cNvPr id="8" name="Text 6"/>
          <p:cNvSpPr/>
          <p:nvPr/>
        </p:nvSpPr>
        <p:spPr>
          <a:xfrm>
            <a:off x="484632" y="1581912"/>
            <a:ext cx="3730752" cy="11155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Defines a modified variable importance measure that is invariant to the correlation between X and Z, using a counterfactual distribution where X and Z are made independent.</a:t>
            </a:r>
            <a:endParaRPr lang="en-US" sz="1200" dirty="0"/>
          </a:p>
        </p:txBody>
      </p:sp>
      <p:sp>
        <p:nvSpPr>
          <p:cNvPr id="9" name="Shape 7"/>
          <p:cNvSpPr/>
          <p:nvPr/>
        </p:nvSpPr>
        <p:spPr>
          <a:xfrm>
            <a:off x="4754880" y="987552"/>
            <a:ext cx="402336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4892040" y="1115568"/>
            <a:ext cx="411480" cy="411480"/>
          </a:xfrm>
          <a:prstGeom prst="ellipse">
            <a:avLst/>
          </a:prstGeom>
          <a:solidFill>
            <a:srgbClr val="0F2647"/>
          </a:solidFill>
          <a:ln/>
        </p:spPr>
        <p:txBody>
          <a:bodyPr/>
          <a:lstStyle/>
          <a:p>
            <a:endParaRPr lang="en-US"/>
          </a:p>
        </p:txBody>
      </p:sp>
      <p:sp>
        <p:nvSpPr>
          <p:cNvPr id="11" name="Text 9"/>
          <p:cNvSpPr/>
          <p:nvPr/>
        </p:nvSpPr>
        <p:spPr>
          <a:xfrm>
            <a:off x="489204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5413248" y="1115568"/>
            <a:ext cx="3227832" cy="384048"/>
          </a:xfrm>
          <a:prstGeom prst="rect">
            <a:avLst/>
          </a:prstGeom>
          <a:noFill/>
          <a:ln/>
        </p:spPr>
        <p:txBody>
          <a:bodyPr wrap="square" lIns="0" tIns="0" rIns="0" bIns="0" rtlCol="0" anchor="ctr"/>
          <a:lstStyle/>
          <a:p>
            <a:pPr marL="0" indent="0">
              <a:buNone/>
            </a:pPr>
            <a:r>
              <a:rPr lang="en-US" sz="1300" b="1" dirty="0">
                <a:solidFill>
                  <a:srgbClr val="0F2647"/>
                </a:solidFill>
                <a:latin typeface="Trebuchet MS" pitchFamily="34" charset="0"/>
                <a:ea typeface="Trebuchet MS" pitchFamily="34" charset="-122"/>
                <a:cs typeface="Trebuchet MS" pitchFamily="34" charset="-120"/>
              </a:rPr>
              <a:t>Semiparametric Estimators ψ₂ and ψ₃</a:t>
            </a:r>
            <a:endParaRPr lang="en-US" sz="1300" dirty="0"/>
          </a:p>
        </p:txBody>
      </p:sp>
      <p:sp>
        <p:nvSpPr>
          <p:cNvPr id="13" name="Text 11"/>
          <p:cNvSpPr/>
          <p:nvPr/>
        </p:nvSpPr>
        <p:spPr>
          <a:xfrm>
            <a:off x="4919472" y="1581912"/>
            <a:ext cx="3730752" cy="11155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Since nonparametric estimation of ψ₀ is intractable, introduces two practical semiparametric estimators (partially linear model, and with interactions) with formal statistical guarantees.</a:t>
            </a:r>
            <a:endParaRPr lang="en-US" sz="1200" dirty="0"/>
          </a:p>
        </p:txBody>
      </p:sp>
      <p:sp>
        <p:nvSpPr>
          <p:cNvPr id="14" name="Shape 12"/>
          <p:cNvSpPr/>
          <p:nvPr/>
        </p:nvSpPr>
        <p:spPr>
          <a:xfrm>
            <a:off x="320040" y="3063240"/>
            <a:ext cx="402336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457200" y="3191256"/>
            <a:ext cx="411480" cy="411480"/>
          </a:xfrm>
          <a:prstGeom prst="ellipse">
            <a:avLst/>
          </a:prstGeom>
          <a:solidFill>
            <a:srgbClr val="0D9488"/>
          </a:solidFill>
          <a:ln/>
        </p:spPr>
        <p:txBody>
          <a:bodyPr/>
          <a:lstStyle/>
          <a:p>
            <a:endParaRPr lang="en-US"/>
          </a:p>
        </p:txBody>
      </p:sp>
      <p:sp>
        <p:nvSpPr>
          <p:cNvPr id="16" name="Text 14"/>
          <p:cNvSpPr/>
          <p:nvPr/>
        </p:nvSpPr>
        <p:spPr>
          <a:xfrm>
            <a:off x="457200" y="317296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Text 15"/>
          <p:cNvSpPr/>
          <p:nvPr/>
        </p:nvSpPr>
        <p:spPr>
          <a:xfrm>
            <a:off x="978408" y="3191256"/>
            <a:ext cx="3227832" cy="384048"/>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t-Cross Confidence Intervals</a:t>
            </a:r>
            <a:endParaRPr lang="en-US" sz="1300" dirty="0"/>
          </a:p>
        </p:txBody>
      </p:sp>
      <p:sp>
        <p:nvSpPr>
          <p:cNvPr id="18" name="Text 16"/>
          <p:cNvSpPr/>
          <p:nvPr/>
        </p:nvSpPr>
        <p:spPr>
          <a:xfrm>
            <a:off x="484632" y="3657600"/>
            <a:ext cx="3730752" cy="11155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Proposes a novel CI method combining cross-fitting and t-inference that avoids the breakdown of standard CIs near ψ = 0, a problem shared by LOCO and many other quadratic functionals.</a:t>
            </a:r>
            <a:endParaRPr lang="en-US" sz="1200" dirty="0"/>
          </a:p>
        </p:txBody>
      </p:sp>
      <p:sp>
        <p:nvSpPr>
          <p:cNvPr id="19" name="Shape 17"/>
          <p:cNvSpPr/>
          <p:nvPr/>
        </p:nvSpPr>
        <p:spPr>
          <a:xfrm>
            <a:off x="4754880" y="3063240"/>
            <a:ext cx="402336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4892040" y="3191256"/>
            <a:ext cx="411480" cy="411480"/>
          </a:xfrm>
          <a:prstGeom prst="ellipse">
            <a:avLst/>
          </a:prstGeom>
          <a:solidFill>
            <a:srgbClr val="0F2647"/>
          </a:solidFill>
          <a:ln/>
        </p:spPr>
        <p:txBody>
          <a:bodyPr/>
          <a:lstStyle/>
          <a:p>
            <a:endParaRPr lang="en-US"/>
          </a:p>
        </p:txBody>
      </p:sp>
      <p:sp>
        <p:nvSpPr>
          <p:cNvPr id="21" name="Text 19"/>
          <p:cNvSpPr/>
          <p:nvPr/>
        </p:nvSpPr>
        <p:spPr>
          <a:xfrm>
            <a:off x="4892040" y="317296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2" name="Text 20"/>
          <p:cNvSpPr/>
          <p:nvPr/>
        </p:nvSpPr>
        <p:spPr>
          <a:xfrm>
            <a:off x="5413248" y="3191256"/>
            <a:ext cx="3227832" cy="384048"/>
          </a:xfrm>
          <a:prstGeom prst="rect">
            <a:avLst/>
          </a:prstGeom>
          <a:noFill/>
          <a:ln/>
        </p:spPr>
        <p:txBody>
          <a:bodyPr wrap="square" lIns="0" tIns="0" rIns="0" bIns="0" rtlCol="0" anchor="ctr"/>
          <a:lstStyle/>
          <a:p>
            <a:pPr marL="0" indent="0">
              <a:buNone/>
            </a:pPr>
            <a:r>
              <a:rPr lang="en-US" sz="1300" b="1" dirty="0">
                <a:solidFill>
                  <a:srgbClr val="0F2647"/>
                </a:solidFill>
                <a:latin typeface="Trebuchet MS" pitchFamily="34" charset="0"/>
                <a:ea typeface="Trebuchet MS" pitchFamily="34" charset="-122"/>
                <a:cs typeface="Trebuchet MS" pitchFamily="34" charset="-120"/>
              </a:rPr>
              <a:t>Critique of Shapley Values</a:t>
            </a:r>
            <a:endParaRPr lang="en-US" sz="1300" dirty="0"/>
          </a:p>
        </p:txBody>
      </p:sp>
      <p:sp>
        <p:nvSpPr>
          <p:cNvPr id="23" name="Text 21"/>
          <p:cNvSpPr/>
          <p:nvPr/>
        </p:nvSpPr>
        <p:spPr>
          <a:xfrm>
            <a:off x="4919472" y="3657600"/>
            <a:ext cx="3730752" cy="11155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Formally shows that Shapley values do not solve correlation distortion and argues that decorrelated LOCO is preferable for observational regression tasks.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advTm="56013"/>
    </mc:Choice>
    <mc:Fallback xmlns="">
      <p:transition spd="slow" advTm="5601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2647"/>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Methodology</a:t>
            </a:r>
            <a:endParaRPr lang="en-US" sz="2400" dirty="0"/>
          </a:p>
        </p:txBody>
      </p:sp>
      <p:sp>
        <p:nvSpPr>
          <p:cNvPr id="4" name="Shape 2"/>
          <p:cNvSpPr/>
          <p:nvPr/>
        </p:nvSpPr>
        <p:spPr>
          <a:xfrm>
            <a:off x="274320" y="1005840"/>
            <a:ext cx="1920240" cy="1234440"/>
          </a:xfrm>
          <a:prstGeom prst="rect">
            <a:avLst/>
          </a:prstGeom>
          <a:solidFill>
            <a:srgbClr val="DC2626"/>
          </a:solidFill>
          <a:ln/>
          <a:effectLst>
            <a:outerShdw blurRad="76200" dist="25400" dir="8100000" algn="bl" rotWithShape="0">
              <a:srgbClr val="000000">
                <a:alpha val="15000"/>
              </a:srgbClr>
            </a:outerShdw>
          </a:effectLst>
        </p:spPr>
        <p:txBody>
          <a:bodyPr/>
          <a:lstStyle/>
          <a:p>
            <a:endParaRPr lang="en-US"/>
          </a:p>
        </p:txBody>
      </p:sp>
      <p:sp>
        <p:nvSpPr>
          <p:cNvPr id="5" name="Text 3"/>
          <p:cNvSpPr/>
          <p:nvPr/>
        </p:nvSpPr>
        <p:spPr>
          <a:xfrm>
            <a:off x="274320" y="1051560"/>
            <a:ext cx="1920240" cy="658368"/>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Standard</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LOCO ψL</a:t>
            </a:r>
            <a:endParaRPr lang="en-US" sz="1400" dirty="0"/>
          </a:p>
        </p:txBody>
      </p:sp>
      <p:sp>
        <p:nvSpPr>
          <p:cNvPr id="6" name="Text 4"/>
          <p:cNvSpPr/>
          <p:nvPr/>
        </p:nvSpPr>
        <p:spPr>
          <a:xfrm>
            <a:off x="274320" y="1709928"/>
            <a:ext cx="1920240" cy="502920"/>
          </a:xfrm>
          <a:prstGeom prst="rect">
            <a:avLst/>
          </a:prstGeom>
          <a:noFill/>
          <a:ln/>
        </p:spPr>
        <p:txBody>
          <a:bodyPr wrap="square"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drops X, measures</a:t>
            </a:r>
            <a:endParaRPr lang="en-US" sz="1100" dirty="0"/>
          </a:p>
          <a:p>
            <a:pPr marL="0" indent="0" algn="ctr">
              <a:buNone/>
            </a:pPr>
            <a:r>
              <a:rPr lang="en-US" sz="1100" dirty="0">
                <a:solidFill>
                  <a:srgbClr val="DBEAFE"/>
                </a:solidFill>
                <a:latin typeface="Calibri" pitchFamily="34" charset="0"/>
                <a:ea typeface="Calibri" pitchFamily="34" charset="-122"/>
                <a:cs typeface="Calibri" pitchFamily="34" charset="-120"/>
              </a:rPr>
              <a:t>prediction loss</a:t>
            </a:r>
            <a:endParaRPr lang="en-US" sz="1100" dirty="0"/>
          </a:p>
        </p:txBody>
      </p:sp>
      <p:sp>
        <p:nvSpPr>
          <p:cNvPr id="7" name="Shape 5"/>
          <p:cNvSpPr/>
          <p:nvPr/>
        </p:nvSpPr>
        <p:spPr>
          <a:xfrm>
            <a:off x="2212848" y="1627632"/>
            <a:ext cx="384048" cy="0"/>
          </a:xfrm>
          <a:prstGeom prst="line">
            <a:avLst/>
          </a:prstGeom>
          <a:noFill/>
          <a:ln w="25400">
            <a:solidFill>
              <a:srgbClr val="64748B"/>
            </a:solidFill>
            <a:prstDash val="solid"/>
          </a:ln>
        </p:spPr>
        <p:txBody>
          <a:bodyPr/>
          <a:lstStyle/>
          <a:p>
            <a:endParaRPr lang="en-US"/>
          </a:p>
        </p:txBody>
      </p:sp>
      <p:sp>
        <p:nvSpPr>
          <p:cNvPr id="8" name="Text 6"/>
          <p:cNvSpPr/>
          <p:nvPr/>
        </p:nvSpPr>
        <p:spPr>
          <a:xfrm>
            <a:off x="2377440" y="1536192"/>
            <a:ext cx="228600" cy="2286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2331720" y="1005840"/>
            <a:ext cx="1920240" cy="1234440"/>
          </a:xfrm>
          <a:prstGeom prst="rect">
            <a:avLst/>
          </a:prstGeom>
          <a:solidFill>
            <a:srgbClr val="D97706"/>
          </a:solidFill>
          <a:ln/>
          <a:effectLst>
            <a:outerShdw blurRad="76200" dist="25400" dir="8100000" algn="bl" rotWithShape="0">
              <a:srgbClr val="000000">
                <a:alpha val="15000"/>
              </a:srgbClr>
            </a:outerShdw>
          </a:effectLst>
        </p:spPr>
        <p:txBody>
          <a:bodyPr/>
          <a:lstStyle/>
          <a:p>
            <a:endParaRPr lang="en-US"/>
          </a:p>
        </p:txBody>
      </p:sp>
      <p:sp>
        <p:nvSpPr>
          <p:cNvPr id="10" name="Text 8"/>
          <p:cNvSpPr/>
          <p:nvPr/>
        </p:nvSpPr>
        <p:spPr>
          <a:xfrm>
            <a:off x="2331720" y="1051560"/>
            <a:ext cx="1920240" cy="658368"/>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Problem:</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Correlation</a:t>
            </a:r>
            <a:endParaRPr lang="en-US" sz="1400" dirty="0"/>
          </a:p>
        </p:txBody>
      </p:sp>
      <p:sp>
        <p:nvSpPr>
          <p:cNvPr id="11" name="Text 9"/>
          <p:cNvSpPr/>
          <p:nvPr/>
        </p:nvSpPr>
        <p:spPr>
          <a:xfrm>
            <a:off x="2331720" y="1709928"/>
            <a:ext cx="1920240" cy="502920"/>
          </a:xfrm>
          <a:prstGeom prst="rect">
            <a:avLst/>
          </a:prstGeom>
          <a:noFill/>
          <a:ln/>
        </p:spPr>
        <p:txBody>
          <a:bodyPr wrap="square"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ψL → 0 as</a:t>
            </a:r>
            <a:endParaRPr lang="en-US" sz="1100" dirty="0"/>
          </a:p>
          <a:p>
            <a:pPr marL="0" indent="0" algn="ctr">
              <a:buNone/>
            </a:pPr>
            <a:r>
              <a:rPr lang="en-US" sz="1100" dirty="0">
                <a:solidFill>
                  <a:srgbClr val="DBEAFE"/>
                </a:solidFill>
                <a:latin typeface="Calibri" pitchFamily="34" charset="0"/>
                <a:ea typeface="Calibri" pitchFamily="34" charset="-122"/>
                <a:cs typeface="Calibri" pitchFamily="34" charset="-120"/>
              </a:rPr>
              <a:t>Cor(X,Z) → 1</a:t>
            </a:r>
            <a:endParaRPr lang="en-US" sz="1100" dirty="0"/>
          </a:p>
        </p:txBody>
      </p:sp>
      <p:sp>
        <p:nvSpPr>
          <p:cNvPr id="12" name="Shape 10"/>
          <p:cNvSpPr/>
          <p:nvPr/>
        </p:nvSpPr>
        <p:spPr>
          <a:xfrm>
            <a:off x="4270248" y="1627632"/>
            <a:ext cx="384048" cy="0"/>
          </a:xfrm>
          <a:prstGeom prst="line">
            <a:avLst/>
          </a:prstGeom>
          <a:noFill/>
          <a:ln w="25400">
            <a:solidFill>
              <a:srgbClr val="64748B"/>
            </a:solidFill>
            <a:prstDash val="solid"/>
          </a:ln>
        </p:spPr>
        <p:txBody>
          <a:bodyPr/>
          <a:lstStyle/>
          <a:p>
            <a:endParaRPr lang="en-US"/>
          </a:p>
        </p:txBody>
      </p:sp>
      <p:sp>
        <p:nvSpPr>
          <p:cNvPr id="13" name="Text 11"/>
          <p:cNvSpPr/>
          <p:nvPr/>
        </p:nvSpPr>
        <p:spPr>
          <a:xfrm>
            <a:off x="4434840" y="1536192"/>
            <a:ext cx="228600" cy="2286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4389120" y="1005840"/>
            <a:ext cx="1920240" cy="1234440"/>
          </a:xfrm>
          <a:prstGeom prst="rect">
            <a:avLst/>
          </a:prstGeom>
          <a:solidFill>
            <a:srgbClr val="0D9488"/>
          </a:solidFill>
          <a:ln/>
          <a:effectLst>
            <a:outerShdw blurRad="76200" dist="25400" dir="8100000" algn="bl" rotWithShape="0">
              <a:srgbClr val="000000">
                <a:alpha val="15000"/>
              </a:srgbClr>
            </a:outerShdw>
          </a:effectLst>
        </p:spPr>
        <p:txBody>
          <a:bodyPr/>
          <a:lstStyle/>
          <a:p>
            <a:endParaRPr lang="en-US"/>
          </a:p>
        </p:txBody>
      </p:sp>
      <p:sp>
        <p:nvSpPr>
          <p:cNvPr id="15" name="Text 13"/>
          <p:cNvSpPr/>
          <p:nvPr/>
        </p:nvSpPr>
        <p:spPr>
          <a:xfrm>
            <a:off x="4389120" y="1051560"/>
            <a:ext cx="1920240" cy="658368"/>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Ideal Fix</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ψ₀</a:t>
            </a:r>
            <a:endParaRPr lang="en-US" sz="1400" dirty="0"/>
          </a:p>
        </p:txBody>
      </p:sp>
      <p:sp>
        <p:nvSpPr>
          <p:cNvPr id="16" name="Text 14"/>
          <p:cNvSpPr/>
          <p:nvPr/>
        </p:nvSpPr>
        <p:spPr>
          <a:xfrm>
            <a:off x="4389120" y="1709928"/>
            <a:ext cx="1920240" cy="502920"/>
          </a:xfrm>
          <a:prstGeom prst="rect">
            <a:avLst/>
          </a:prstGeom>
          <a:noFill/>
          <a:ln/>
        </p:spPr>
        <p:txBody>
          <a:bodyPr wrap="square"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counterfactual:</a:t>
            </a:r>
            <a:endParaRPr lang="en-US" sz="1100" dirty="0"/>
          </a:p>
          <a:p>
            <a:pPr marL="0" indent="0" algn="ctr">
              <a:buNone/>
            </a:pPr>
            <a:r>
              <a:rPr lang="en-US" sz="1100" dirty="0">
                <a:solidFill>
                  <a:srgbClr val="DBEAFE"/>
                </a:solidFill>
                <a:latin typeface="Calibri" pitchFamily="34" charset="0"/>
                <a:ea typeface="Calibri" pitchFamily="34" charset="-122"/>
                <a:cs typeface="Calibri" pitchFamily="34" charset="-120"/>
              </a:rPr>
              <a:t>what if X⊥Z?</a:t>
            </a:r>
            <a:endParaRPr lang="en-US" sz="1100" dirty="0"/>
          </a:p>
        </p:txBody>
      </p:sp>
      <p:sp>
        <p:nvSpPr>
          <p:cNvPr id="17" name="Shape 15"/>
          <p:cNvSpPr/>
          <p:nvPr/>
        </p:nvSpPr>
        <p:spPr>
          <a:xfrm>
            <a:off x="6327648" y="1627632"/>
            <a:ext cx="384048" cy="0"/>
          </a:xfrm>
          <a:prstGeom prst="line">
            <a:avLst/>
          </a:prstGeom>
          <a:noFill/>
          <a:ln w="25400">
            <a:solidFill>
              <a:srgbClr val="64748B"/>
            </a:solidFill>
            <a:prstDash val="solid"/>
          </a:ln>
        </p:spPr>
        <p:txBody>
          <a:bodyPr/>
          <a:lstStyle/>
          <a:p>
            <a:endParaRPr lang="en-US"/>
          </a:p>
        </p:txBody>
      </p:sp>
      <p:sp>
        <p:nvSpPr>
          <p:cNvPr id="18" name="Text 16"/>
          <p:cNvSpPr/>
          <p:nvPr/>
        </p:nvSpPr>
        <p:spPr>
          <a:xfrm>
            <a:off x="6492240" y="1536192"/>
            <a:ext cx="228600" cy="2286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6446520" y="1005840"/>
            <a:ext cx="1920240" cy="1234440"/>
          </a:xfrm>
          <a:prstGeom prst="rect">
            <a:avLst/>
          </a:prstGeom>
          <a:solidFill>
            <a:srgbClr val="0F2647"/>
          </a:solidFill>
          <a:ln/>
          <a:effectLst>
            <a:outerShdw blurRad="76200" dist="25400" dir="8100000" algn="bl" rotWithShape="0">
              <a:srgbClr val="000000">
                <a:alpha val="15000"/>
              </a:srgbClr>
            </a:outerShdw>
          </a:effectLst>
        </p:spPr>
        <p:txBody>
          <a:bodyPr/>
          <a:lstStyle/>
          <a:p>
            <a:endParaRPr lang="en-US"/>
          </a:p>
        </p:txBody>
      </p:sp>
      <p:sp>
        <p:nvSpPr>
          <p:cNvPr id="20" name="Text 18"/>
          <p:cNvSpPr/>
          <p:nvPr/>
        </p:nvSpPr>
        <p:spPr>
          <a:xfrm>
            <a:off x="6446520" y="1051560"/>
            <a:ext cx="1920240" cy="658368"/>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Practical Fix</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ψ₃</a:t>
            </a:r>
            <a:endParaRPr lang="en-US" sz="1400" dirty="0"/>
          </a:p>
        </p:txBody>
      </p:sp>
      <p:sp>
        <p:nvSpPr>
          <p:cNvPr id="21" name="Text 19"/>
          <p:cNvSpPr/>
          <p:nvPr/>
        </p:nvSpPr>
        <p:spPr>
          <a:xfrm>
            <a:off x="6446520" y="1709928"/>
            <a:ext cx="1920240" cy="502920"/>
          </a:xfrm>
          <a:prstGeom prst="rect">
            <a:avLst/>
          </a:prstGeom>
          <a:noFill/>
          <a:ln/>
        </p:spPr>
        <p:txBody>
          <a:bodyPr wrap="square"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semiparametric model</a:t>
            </a:r>
            <a:endParaRPr lang="en-US" sz="1100" dirty="0"/>
          </a:p>
          <a:p>
            <a:pPr marL="0" indent="0" algn="ctr">
              <a:buNone/>
            </a:pPr>
            <a:r>
              <a:rPr lang="en-US" sz="1100" dirty="0">
                <a:solidFill>
                  <a:srgbClr val="DBEAFE"/>
                </a:solidFill>
                <a:latin typeface="Calibri" pitchFamily="34" charset="0"/>
                <a:ea typeface="Calibri" pitchFamily="34" charset="-122"/>
                <a:cs typeface="Calibri" pitchFamily="34" charset="-120"/>
              </a:rPr>
              <a:t>+ t-Cross CIs</a:t>
            </a:r>
            <a:endParaRPr lang="en-US" sz="1100" dirty="0"/>
          </a:p>
        </p:txBody>
      </p:sp>
      <p:sp>
        <p:nvSpPr>
          <p:cNvPr id="22" name="Shape 20"/>
          <p:cNvSpPr/>
          <p:nvPr/>
        </p:nvSpPr>
        <p:spPr>
          <a:xfrm>
            <a:off x="274320" y="2450592"/>
            <a:ext cx="2743200" cy="2514600"/>
          </a:xfrm>
          <a:prstGeom prst="rect">
            <a:avLst/>
          </a:prstGeom>
          <a:solidFill>
            <a:srgbClr val="FFFFFF"/>
          </a:solidFill>
          <a:ln/>
          <a:effectLst>
            <a:outerShdw blurRad="88900" dist="38100" dir="8100000" algn="bl" rotWithShape="0">
              <a:srgbClr val="000000">
                <a:alpha val="9000"/>
              </a:srgbClr>
            </a:outerShdw>
          </a:effectLst>
        </p:spPr>
        <p:txBody>
          <a:bodyPr/>
          <a:lstStyle/>
          <a:p>
            <a:endParaRPr lang="en-US"/>
          </a:p>
        </p:txBody>
      </p:sp>
      <p:sp>
        <p:nvSpPr>
          <p:cNvPr id="23" name="Shape 21"/>
          <p:cNvSpPr/>
          <p:nvPr/>
        </p:nvSpPr>
        <p:spPr>
          <a:xfrm>
            <a:off x="274320" y="2450592"/>
            <a:ext cx="2743200" cy="64008"/>
          </a:xfrm>
          <a:prstGeom prst="rect">
            <a:avLst/>
          </a:prstGeom>
          <a:solidFill>
            <a:srgbClr val="0D9488"/>
          </a:solidFill>
          <a:ln/>
        </p:spPr>
        <p:txBody>
          <a:bodyPr/>
          <a:lstStyle/>
          <a:p>
            <a:endParaRPr lang="en-US"/>
          </a:p>
        </p:txBody>
      </p:sp>
      <p:sp>
        <p:nvSpPr>
          <p:cNvPr id="24" name="Text 22"/>
          <p:cNvSpPr/>
          <p:nvPr/>
        </p:nvSpPr>
        <p:spPr>
          <a:xfrm>
            <a:off x="384048" y="2542032"/>
            <a:ext cx="2542032" cy="365760"/>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ψ₁ — Remove Correlated Vars</a:t>
            </a:r>
            <a:endParaRPr lang="en-US" sz="1250" dirty="0"/>
          </a:p>
        </p:txBody>
      </p:sp>
      <p:sp>
        <p:nvSpPr>
          <p:cNvPr id="25" name="Text 23"/>
          <p:cNvSpPr/>
          <p:nvPr/>
        </p:nvSpPr>
        <p:spPr>
          <a:xfrm>
            <a:off x="384048" y="2962656"/>
            <a:ext cx="2542032" cy="1883664"/>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Drop Zⱼ where |ρ(X,Zⱼ)| &gt; 0.5, then run LOCO on remaining variables.</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Simple  ✗ Unstable at the threshold</a:t>
            </a:r>
            <a:endParaRPr lang="en-US" sz="1200" dirty="0"/>
          </a:p>
        </p:txBody>
      </p:sp>
      <p:sp>
        <p:nvSpPr>
          <p:cNvPr id="26" name="Shape 24"/>
          <p:cNvSpPr/>
          <p:nvPr/>
        </p:nvSpPr>
        <p:spPr>
          <a:xfrm>
            <a:off x="3218688" y="2450592"/>
            <a:ext cx="2743200" cy="2514600"/>
          </a:xfrm>
          <a:prstGeom prst="rect">
            <a:avLst/>
          </a:prstGeom>
          <a:solidFill>
            <a:srgbClr val="FFFFFF"/>
          </a:solidFill>
          <a:ln/>
          <a:effectLst>
            <a:outerShdw blurRad="88900" dist="38100" dir="8100000" algn="bl" rotWithShape="0">
              <a:srgbClr val="000000">
                <a:alpha val="9000"/>
              </a:srgbClr>
            </a:outerShdw>
          </a:effectLst>
        </p:spPr>
        <p:txBody>
          <a:bodyPr/>
          <a:lstStyle/>
          <a:p>
            <a:endParaRPr lang="en-US"/>
          </a:p>
        </p:txBody>
      </p:sp>
      <p:sp>
        <p:nvSpPr>
          <p:cNvPr id="27" name="Shape 25"/>
          <p:cNvSpPr/>
          <p:nvPr/>
        </p:nvSpPr>
        <p:spPr>
          <a:xfrm>
            <a:off x="3218688" y="2450592"/>
            <a:ext cx="2743200" cy="64008"/>
          </a:xfrm>
          <a:prstGeom prst="rect">
            <a:avLst/>
          </a:prstGeom>
          <a:solidFill>
            <a:srgbClr val="0D9488"/>
          </a:solidFill>
          <a:ln/>
        </p:spPr>
        <p:txBody>
          <a:bodyPr/>
          <a:lstStyle/>
          <a:p>
            <a:endParaRPr lang="en-US"/>
          </a:p>
        </p:txBody>
      </p:sp>
      <p:sp>
        <p:nvSpPr>
          <p:cNvPr id="28" name="Text 26"/>
          <p:cNvSpPr/>
          <p:nvPr/>
        </p:nvSpPr>
        <p:spPr>
          <a:xfrm>
            <a:off x="3328416" y="2542032"/>
            <a:ext cx="2542032" cy="365760"/>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ψ₂ — Partially Linear Model</a:t>
            </a:r>
            <a:endParaRPr lang="en-US" sz="1250" dirty="0"/>
          </a:p>
        </p:txBody>
      </p:sp>
      <p:sp>
        <p:nvSpPr>
          <p:cNvPr id="29" name="Text 27"/>
          <p:cNvSpPr/>
          <p:nvPr/>
        </p:nvSpPr>
        <p:spPr>
          <a:xfrm>
            <a:off x="3328416" y="2962656"/>
            <a:ext cx="2542032" cy="1883664"/>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Y = βᵀX + f(Z) + ε   →   ψ₂ = βᵀΣₓβ</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Estimate β via residual regression. Doubly robust.</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Clean  ✗ Misses X–Z interactions</a:t>
            </a:r>
            <a:endParaRPr lang="en-US" sz="1200" dirty="0"/>
          </a:p>
        </p:txBody>
      </p:sp>
      <p:sp>
        <p:nvSpPr>
          <p:cNvPr id="30" name="Shape 28"/>
          <p:cNvSpPr/>
          <p:nvPr/>
        </p:nvSpPr>
        <p:spPr>
          <a:xfrm>
            <a:off x="6163056" y="2450592"/>
            <a:ext cx="2743200" cy="2514600"/>
          </a:xfrm>
          <a:prstGeom prst="rect">
            <a:avLst/>
          </a:prstGeom>
          <a:solidFill>
            <a:srgbClr val="FFFFFF"/>
          </a:solidFill>
          <a:ln/>
          <a:effectLst>
            <a:outerShdw blurRad="88900" dist="38100" dir="8100000" algn="bl" rotWithShape="0">
              <a:srgbClr val="000000">
                <a:alpha val="9000"/>
              </a:srgbClr>
            </a:outerShdw>
          </a:effectLst>
        </p:spPr>
        <p:txBody>
          <a:bodyPr/>
          <a:lstStyle/>
          <a:p>
            <a:endParaRPr lang="en-US"/>
          </a:p>
        </p:txBody>
      </p:sp>
      <p:sp>
        <p:nvSpPr>
          <p:cNvPr id="31" name="Shape 29"/>
          <p:cNvSpPr/>
          <p:nvPr/>
        </p:nvSpPr>
        <p:spPr>
          <a:xfrm>
            <a:off x="6163056" y="2450592"/>
            <a:ext cx="2743200" cy="64008"/>
          </a:xfrm>
          <a:prstGeom prst="rect">
            <a:avLst/>
          </a:prstGeom>
          <a:solidFill>
            <a:srgbClr val="0D9488"/>
          </a:solidFill>
          <a:ln/>
        </p:spPr>
        <p:txBody>
          <a:bodyPr/>
          <a:lstStyle/>
          <a:p>
            <a:endParaRPr lang="en-US"/>
          </a:p>
        </p:txBody>
      </p:sp>
      <p:sp>
        <p:nvSpPr>
          <p:cNvPr id="32" name="Text 30"/>
          <p:cNvSpPr/>
          <p:nvPr/>
        </p:nvSpPr>
        <p:spPr>
          <a:xfrm>
            <a:off x="6272784" y="2542032"/>
            <a:ext cx="2542032" cy="365760"/>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ψ₃ — Model with Interactions</a:t>
            </a:r>
            <a:endParaRPr lang="en-US" sz="1250" dirty="0"/>
          </a:p>
        </p:txBody>
      </p:sp>
      <p:sp>
        <p:nvSpPr>
          <p:cNvPr id="33" name="Text 31"/>
          <p:cNvSpPr/>
          <p:nvPr/>
        </p:nvSpPr>
        <p:spPr>
          <a:xfrm>
            <a:off x="6272784" y="2962656"/>
            <a:ext cx="2542032" cy="1883664"/>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Y = βᵀX + ΣγⱼₖXⱼZₖ + f(Z) + ε   →   ψ₃ = θᵀΩθ</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One-step semiparametric estimator.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Best coverage  ✗ Needs additive nuisance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advTm="88833"/>
    </mc:Choice>
    <mc:Fallback xmlns="">
      <p:transition spd="slow" advTm="8883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2647"/>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Results &amp; Insights</a:t>
            </a:r>
            <a:endParaRPr lang="en-US" sz="2400" dirty="0"/>
          </a:p>
        </p:txBody>
      </p:sp>
      <p:sp>
        <p:nvSpPr>
          <p:cNvPr id="4" name="Shape 2"/>
          <p:cNvSpPr/>
          <p:nvPr/>
        </p:nvSpPr>
        <p:spPr>
          <a:xfrm>
            <a:off x="320040" y="987552"/>
            <a:ext cx="8503920" cy="658368"/>
          </a:xfrm>
          <a:prstGeom prst="rect">
            <a:avLst/>
          </a:prstGeom>
          <a:solidFill>
            <a:srgbClr val="CCEDE9"/>
          </a:solidFill>
          <a:ln/>
        </p:spPr>
        <p:txBody>
          <a:bodyPr/>
          <a:lstStyle/>
          <a:p>
            <a:endParaRPr lang="en-US"/>
          </a:p>
        </p:txBody>
      </p:sp>
      <p:sp>
        <p:nvSpPr>
          <p:cNvPr id="5" name="Text 3"/>
          <p:cNvSpPr/>
          <p:nvPr/>
        </p:nvSpPr>
        <p:spPr>
          <a:xfrm>
            <a:off x="457200" y="1005840"/>
            <a:ext cx="8229600" cy="621792"/>
          </a:xfrm>
          <a:prstGeom prst="rect">
            <a:avLst/>
          </a:prstGeom>
          <a:noFill/>
          <a:ln/>
        </p:spPr>
        <p:txBody>
          <a:bodyPr wrap="square" rtlCol="0" anchor="ctr"/>
          <a:lstStyle/>
          <a:p>
            <a:pPr marL="0" indent="0">
              <a:buNone/>
            </a:pPr>
            <a:r>
              <a:rPr lang="en-US" sz="1400" b="1" dirty="0">
                <a:solidFill>
                  <a:srgbClr val="0F2647"/>
                </a:solidFill>
                <a:latin typeface="Trebuchet MS" pitchFamily="34" charset="0"/>
                <a:ea typeface="Trebuchet MS" pitchFamily="34" charset="-122"/>
                <a:cs typeface="Trebuchet MS" pitchFamily="34" charset="-120"/>
              </a:rPr>
              <a:t>Key finding: ψ₃ with additive nuisance estimation achieves near-nominal coverage across diverse simulation settings</a:t>
            </a:r>
            <a:endParaRPr lang="en-US" sz="1400" dirty="0"/>
          </a:p>
        </p:txBody>
      </p:sp>
      <p:sp>
        <p:nvSpPr>
          <p:cNvPr id="6" name="Shape 4"/>
          <p:cNvSpPr/>
          <p:nvPr/>
        </p:nvSpPr>
        <p:spPr>
          <a:xfrm>
            <a:off x="320040" y="1719072"/>
            <a:ext cx="8503920" cy="365760"/>
          </a:xfrm>
          <a:prstGeom prst="rect">
            <a:avLst/>
          </a:prstGeom>
          <a:solidFill>
            <a:srgbClr val="0F2647"/>
          </a:solidFill>
          <a:ln/>
        </p:spPr>
        <p:txBody>
          <a:bodyPr/>
          <a:lstStyle/>
          <a:p>
            <a:endParaRPr lang="en-US"/>
          </a:p>
        </p:txBody>
      </p:sp>
      <p:sp>
        <p:nvSpPr>
          <p:cNvPr id="7" name="Text 5"/>
          <p:cNvSpPr/>
          <p:nvPr/>
        </p:nvSpPr>
        <p:spPr>
          <a:xfrm>
            <a:off x="356616" y="1737360"/>
            <a:ext cx="143560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p>
        </p:txBody>
      </p:sp>
      <p:sp>
        <p:nvSpPr>
          <p:cNvPr id="8" name="Text 6"/>
          <p:cNvSpPr/>
          <p:nvPr/>
        </p:nvSpPr>
        <p:spPr>
          <a:xfrm>
            <a:off x="1956816" y="1737360"/>
            <a:ext cx="152704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 2</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(cubic, corr)</a:t>
            </a:r>
            <a:endParaRPr lang="en-US" sz="1050" dirty="0"/>
          </a:p>
        </p:txBody>
      </p:sp>
      <p:sp>
        <p:nvSpPr>
          <p:cNvPr id="9" name="Text 7"/>
          <p:cNvSpPr/>
          <p:nvPr/>
        </p:nvSpPr>
        <p:spPr>
          <a:xfrm>
            <a:off x="3648456" y="1737360"/>
            <a:ext cx="152704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 3</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(interactions)</a:t>
            </a:r>
            <a:endParaRPr lang="en-US" sz="1050" dirty="0"/>
          </a:p>
        </p:txBody>
      </p:sp>
      <p:sp>
        <p:nvSpPr>
          <p:cNvPr id="10" name="Text 8"/>
          <p:cNvSpPr/>
          <p:nvPr/>
        </p:nvSpPr>
        <p:spPr>
          <a:xfrm>
            <a:off x="5340096" y="1737360"/>
            <a:ext cx="152704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 4</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(uncorrelated)</a:t>
            </a:r>
            <a:endParaRPr lang="en-US" sz="1050" dirty="0"/>
          </a:p>
        </p:txBody>
      </p:sp>
      <p:sp>
        <p:nvSpPr>
          <p:cNvPr id="11" name="Text 9"/>
          <p:cNvSpPr/>
          <p:nvPr/>
        </p:nvSpPr>
        <p:spPr>
          <a:xfrm>
            <a:off x="7031736" y="1737360"/>
            <a:ext cx="152704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 5</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(quad+interact)</a:t>
            </a:r>
            <a:endParaRPr lang="en-US" sz="1050" dirty="0"/>
          </a:p>
        </p:txBody>
      </p:sp>
      <p:sp>
        <p:nvSpPr>
          <p:cNvPr id="12" name="Shape 10"/>
          <p:cNvSpPr/>
          <p:nvPr/>
        </p:nvSpPr>
        <p:spPr>
          <a:xfrm>
            <a:off x="320040" y="2103120"/>
            <a:ext cx="1508760" cy="329184"/>
          </a:xfrm>
          <a:prstGeom prst="rect">
            <a:avLst/>
          </a:prstGeom>
          <a:solidFill>
            <a:srgbClr val="F4F7F9"/>
          </a:solidFill>
          <a:ln/>
        </p:spPr>
        <p:txBody>
          <a:bodyPr/>
          <a:lstStyle/>
          <a:p>
            <a:endParaRPr lang="en-US"/>
          </a:p>
        </p:txBody>
      </p:sp>
      <p:sp>
        <p:nvSpPr>
          <p:cNvPr id="13" name="Text 11"/>
          <p:cNvSpPr/>
          <p:nvPr/>
        </p:nvSpPr>
        <p:spPr>
          <a:xfrm>
            <a:off x="356616" y="2139696"/>
            <a:ext cx="1435608" cy="25603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ψL (standard LOCO)</a:t>
            </a:r>
            <a:endParaRPr lang="en-US" sz="1100" dirty="0"/>
          </a:p>
        </p:txBody>
      </p:sp>
      <p:sp>
        <p:nvSpPr>
          <p:cNvPr id="14" name="Shape 12"/>
          <p:cNvSpPr/>
          <p:nvPr/>
        </p:nvSpPr>
        <p:spPr>
          <a:xfrm>
            <a:off x="1920240" y="2103120"/>
            <a:ext cx="1600200" cy="329184"/>
          </a:xfrm>
          <a:prstGeom prst="rect">
            <a:avLst/>
          </a:prstGeom>
          <a:solidFill>
            <a:srgbClr val="FEE2E2"/>
          </a:solidFill>
          <a:ln/>
        </p:spPr>
        <p:txBody>
          <a:bodyPr/>
          <a:lstStyle/>
          <a:p>
            <a:endParaRPr lang="en-US"/>
          </a:p>
        </p:txBody>
      </p:sp>
      <p:sp>
        <p:nvSpPr>
          <p:cNvPr id="15" name="Text 13"/>
          <p:cNvSpPr/>
          <p:nvPr/>
        </p:nvSpPr>
        <p:spPr>
          <a:xfrm>
            <a:off x="1956816" y="2139696"/>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16" name="Shape 14"/>
          <p:cNvSpPr/>
          <p:nvPr/>
        </p:nvSpPr>
        <p:spPr>
          <a:xfrm>
            <a:off x="3611880" y="2103120"/>
            <a:ext cx="1600200" cy="329184"/>
          </a:xfrm>
          <a:prstGeom prst="rect">
            <a:avLst/>
          </a:prstGeom>
          <a:solidFill>
            <a:srgbClr val="FEE2E2"/>
          </a:solidFill>
          <a:ln/>
        </p:spPr>
        <p:txBody>
          <a:bodyPr/>
          <a:lstStyle/>
          <a:p>
            <a:endParaRPr lang="en-US"/>
          </a:p>
        </p:txBody>
      </p:sp>
      <p:sp>
        <p:nvSpPr>
          <p:cNvPr id="17" name="Text 15"/>
          <p:cNvSpPr/>
          <p:nvPr/>
        </p:nvSpPr>
        <p:spPr>
          <a:xfrm>
            <a:off x="3648456" y="2139696"/>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18" name="Shape 16"/>
          <p:cNvSpPr/>
          <p:nvPr/>
        </p:nvSpPr>
        <p:spPr>
          <a:xfrm>
            <a:off x="5303520" y="2103120"/>
            <a:ext cx="1600200" cy="329184"/>
          </a:xfrm>
          <a:prstGeom prst="rect">
            <a:avLst/>
          </a:prstGeom>
          <a:solidFill>
            <a:srgbClr val="D1FAE5"/>
          </a:solidFill>
          <a:ln/>
        </p:spPr>
        <p:txBody>
          <a:bodyPr/>
          <a:lstStyle/>
          <a:p>
            <a:endParaRPr lang="en-US"/>
          </a:p>
        </p:txBody>
      </p:sp>
      <p:sp>
        <p:nvSpPr>
          <p:cNvPr id="19" name="Text 17"/>
          <p:cNvSpPr/>
          <p:nvPr/>
        </p:nvSpPr>
        <p:spPr>
          <a:xfrm>
            <a:off x="5340096" y="2139696"/>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98%</a:t>
            </a:r>
            <a:endParaRPr lang="en-US" sz="1200" dirty="0"/>
          </a:p>
        </p:txBody>
      </p:sp>
      <p:sp>
        <p:nvSpPr>
          <p:cNvPr id="20" name="Shape 18"/>
          <p:cNvSpPr/>
          <p:nvPr/>
        </p:nvSpPr>
        <p:spPr>
          <a:xfrm>
            <a:off x="6995160" y="2103120"/>
            <a:ext cx="1600200" cy="329184"/>
          </a:xfrm>
          <a:prstGeom prst="rect">
            <a:avLst/>
          </a:prstGeom>
          <a:solidFill>
            <a:srgbClr val="FEE2E2"/>
          </a:solidFill>
          <a:ln/>
        </p:spPr>
        <p:txBody>
          <a:bodyPr/>
          <a:lstStyle/>
          <a:p>
            <a:endParaRPr lang="en-US"/>
          </a:p>
        </p:txBody>
      </p:sp>
      <p:sp>
        <p:nvSpPr>
          <p:cNvPr id="21" name="Text 19"/>
          <p:cNvSpPr/>
          <p:nvPr/>
        </p:nvSpPr>
        <p:spPr>
          <a:xfrm>
            <a:off x="7031736" y="2139696"/>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22" name="Shape 20"/>
          <p:cNvSpPr/>
          <p:nvPr/>
        </p:nvSpPr>
        <p:spPr>
          <a:xfrm>
            <a:off x="320040" y="2450592"/>
            <a:ext cx="1508760" cy="329184"/>
          </a:xfrm>
          <a:prstGeom prst="rect">
            <a:avLst/>
          </a:prstGeom>
          <a:solidFill>
            <a:srgbClr val="FFFFFF"/>
          </a:solidFill>
          <a:ln/>
        </p:spPr>
        <p:txBody>
          <a:bodyPr/>
          <a:lstStyle/>
          <a:p>
            <a:endParaRPr lang="en-US"/>
          </a:p>
        </p:txBody>
      </p:sp>
      <p:sp>
        <p:nvSpPr>
          <p:cNvPr id="23" name="Text 21"/>
          <p:cNvSpPr/>
          <p:nvPr/>
        </p:nvSpPr>
        <p:spPr>
          <a:xfrm>
            <a:off x="356616" y="2487168"/>
            <a:ext cx="1435608" cy="25603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ψ₀ (nonparametric)</a:t>
            </a:r>
            <a:endParaRPr lang="en-US" sz="1100" dirty="0"/>
          </a:p>
        </p:txBody>
      </p:sp>
      <p:sp>
        <p:nvSpPr>
          <p:cNvPr id="24" name="Shape 22"/>
          <p:cNvSpPr/>
          <p:nvPr/>
        </p:nvSpPr>
        <p:spPr>
          <a:xfrm>
            <a:off x="1920240" y="2450592"/>
            <a:ext cx="1600200" cy="329184"/>
          </a:xfrm>
          <a:prstGeom prst="rect">
            <a:avLst/>
          </a:prstGeom>
          <a:solidFill>
            <a:srgbClr val="FEF9C3"/>
          </a:solidFill>
          <a:ln/>
        </p:spPr>
        <p:txBody>
          <a:bodyPr/>
          <a:lstStyle/>
          <a:p>
            <a:endParaRPr lang="en-US"/>
          </a:p>
        </p:txBody>
      </p:sp>
      <p:sp>
        <p:nvSpPr>
          <p:cNvPr id="25" name="Text 23"/>
          <p:cNvSpPr/>
          <p:nvPr/>
        </p:nvSpPr>
        <p:spPr>
          <a:xfrm>
            <a:off x="1956816" y="2487168"/>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79%</a:t>
            </a:r>
            <a:endParaRPr lang="en-US" sz="1200" dirty="0"/>
          </a:p>
        </p:txBody>
      </p:sp>
      <p:sp>
        <p:nvSpPr>
          <p:cNvPr id="26" name="Shape 24"/>
          <p:cNvSpPr/>
          <p:nvPr/>
        </p:nvSpPr>
        <p:spPr>
          <a:xfrm>
            <a:off x="3611880" y="2450592"/>
            <a:ext cx="1600200" cy="329184"/>
          </a:xfrm>
          <a:prstGeom prst="rect">
            <a:avLst/>
          </a:prstGeom>
          <a:solidFill>
            <a:srgbClr val="FEF9C3"/>
          </a:solidFill>
          <a:ln/>
        </p:spPr>
        <p:txBody>
          <a:bodyPr/>
          <a:lstStyle/>
          <a:p>
            <a:endParaRPr lang="en-US"/>
          </a:p>
        </p:txBody>
      </p:sp>
      <p:sp>
        <p:nvSpPr>
          <p:cNvPr id="27" name="Text 25"/>
          <p:cNvSpPr/>
          <p:nvPr/>
        </p:nvSpPr>
        <p:spPr>
          <a:xfrm>
            <a:off x="3648456" y="2487168"/>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88%</a:t>
            </a:r>
            <a:endParaRPr lang="en-US" sz="1200" dirty="0"/>
          </a:p>
        </p:txBody>
      </p:sp>
      <p:sp>
        <p:nvSpPr>
          <p:cNvPr id="28" name="Shape 26"/>
          <p:cNvSpPr/>
          <p:nvPr/>
        </p:nvSpPr>
        <p:spPr>
          <a:xfrm>
            <a:off x="5303520" y="2450592"/>
            <a:ext cx="1600200" cy="329184"/>
          </a:xfrm>
          <a:prstGeom prst="rect">
            <a:avLst/>
          </a:prstGeom>
          <a:solidFill>
            <a:srgbClr val="FEE2E2"/>
          </a:solidFill>
          <a:ln/>
        </p:spPr>
        <p:txBody>
          <a:bodyPr/>
          <a:lstStyle/>
          <a:p>
            <a:endParaRPr lang="en-US"/>
          </a:p>
        </p:txBody>
      </p:sp>
      <p:sp>
        <p:nvSpPr>
          <p:cNvPr id="29" name="Text 27"/>
          <p:cNvSpPr/>
          <p:nvPr/>
        </p:nvSpPr>
        <p:spPr>
          <a:xfrm>
            <a:off x="5340096" y="2487168"/>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20%</a:t>
            </a:r>
            <a:endParaRPr lang="en-US" sz="1200" dirty="0"/>
          </a:p>
        </p:txBody>
      </p:sp>
      <p:sp>
        <p:nvSpPr>
          <p:cNvPr id="30" name="Shape 28"/>
          <p:cNvSpPr/>
          <p:nvPr/>
        </p:nvSpPr>
        <p:spPr>
          <a:xfrm>
            <a:off x="6995160" y="2450592"/>
            <a:ext cx="1600200" cy="329184"/>
          </a:xfrm>
          <a:prstGeom prst="rect">
            <a:avLst/>
          </a:prstGeom>
          <a:solidFill>
            <a:srgbClr val="FEF9C3"/>
          </a:solidFill>
          <a:ln/>
        </p:spPr>
        <p:txBody>
          <a:bodyPr/>
          <a:lstStyle/>
          <a:p>
            <a:endParaRPr lang="en-US"/>
          </a:p>
        </p:txBody>
      </p:sp>
      <p:sp>
        <p:nvSpPr>
          <p:cNvPr id="31" name="Text 29"/>
          <p:cNvSpPr/>
          <p:nvPr/>
        </p:nvSpPr>
        <p:spPr>
          <a:xfrm>
            <a:off x="7031736" y="2487168"/>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83%</a:t>
            </a:r>
            <a:endParaRPr lang="en-US" sz="1200" dirty="0"/>
          </a:p>
        </p:txBody>
      </p:sp>
      <p:sp>
        <p:nvSpPr>
          <p:cNvPr id="32" name="Shape 30"/>
          <p:cNvSpPr/>
          <p:nvPr/>
        </p:nvSpPr>
        <p:spPr>
          <a:xfrm>
            <a:off x="320040" y="2798064"/>
            <a:ext cx="1508760" cy="329184"/>
          </a:xfrm>
          <a:prstGeom prst="rect">
            <a:avLst/>
          </a:prstGeom>
          <a:solidFill>
            <a:srgbClr val="F4F7F9"/>
          </a:solidFill>
          <a:ln/>
        </p:spPr>
        <p:txBody>
          <a:bodyPr/>
          <a:lstStyle/>
          <a:p>
            <a:endParaRPr lang="en-US"/>
          </a:p>
        </p:txBody>
      </p:sp>
      <p:sp>
        <p:nvSpPr>
          <p:cNvPr id="33" name="Text 31"/>
          <p:cNvSpPr/>
          <p:nvPr/>
        </p:nvSpPr>
        <p:spPr>
          <a:xfrm>
            <a:off x="356616" y="2834640"/>
            <a:ext cx="1435608" cy="25603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ψ₁ (drop corr. vars)</a:t>
            </a:r>
            <a:endParaRPr lang="en-US" sz="1100" dirty="0"/>
          </a:p>
        </p:txBody>
      </p:sp>
      <p:sp>
        <p:nvSpPr>
          <p:cNvPr id="34" name="Shape 32"/>
          <p:cNvSpPr/>
          <p:nvPr/>
        </p:nvSpPr>
        <p:spPr>
          <a:xfrm>
            <a:off x="1920240" y="2798064"/>
            <a:ext cx="1600200" cy="329184"/>
          </a:xfrm>
          <a:prstGeom prst="rect">
            <a:avLst/>
          </a:prstGeom>
          <a:solidFill>
            <a:srgbClr val="D1FAE5"/>
          </a:solidFill>
          <a:ln/>
        </p:spPr>
        <p:txBody>
          <a:bodyPr/>
          <a:lstStyle/>
          <a:p>
            <a:endParaRPr lang="en-US"/>
          </a:p>
        </p:txBody>
      </p:sp>
      <p:sp>
        <p:nvSpPr>
          <p:cNvPr id="35" name="Text 33"/>
          <p:cNvSpPr/>
          <p:nvPr/>
        </p:nvSpPr>
        <p:spPr>
          <a:xfrm>
            <a:off x="1956816" y="2834640"/>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100%</a:t>
            </a:r>
            <a:endParaRPr lang="en-US" sz="1200" dirty="0"/>
          </a:p>
        </p:txBody>
      </p:sp>
      <p:sp>
        <p:nvSpPr>
          <p:cNvPr id="36" name="Shape 34"/>
          <p:cNvSpPr/>
          <p:nvPr/>
        </p:nvSpPr>
        <p:spPr>
          <a:xfrm>
            <a:off x="3611880" y="2798064"/>
            <a:ext cx="1600200" cy="329184"/>
          </a:xfrm>
          <a:prstGeom prst="rect">
            <a:avLst/>
          </a:prstGeom>
          <a:solidFill>
            <a:srgbClr val="FEE2E2"/>
          </a:solidFill>
          <a:ln/>
        </p:spPr>
        <p:txBody>
          <a:bodyPr/>
          <a:lstStyle/>
          <a:p>
            <a:endParaRPr lang="en-US"/>
          </a:p>
        </p:txBody>
      </p:sp>
      <p:sp>
        <p:nvSpPr>
          <p:cNvPr id="37" name="Text 35"/>
          <p:cNvSpPr/>
          <p:nvPr/>
        </p:nvSpPr>
        <p:spPr>
          <a:xfrm>
            <a:off x="3648456" y="2834640"/>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38" name="Shape 36"/>
          <p:cNvSpPr/>
          <p:nvPr/>
        </p:nvSpPr>
        <p:spPr>
          <a:xfrm>
            <a:off x="5303520" y="2798064"/>
            <a:ext cx="1600200" cy="329184"/>
          </a:xfrm>
          <a:prstGeom prst="rect">
            <a:avLst/>
          </a:prstGeom>
          <a:solidFill>
            <a:srgbClr val="D1FAE5"/>
          </a:solidFill>
          <a:ln/>
        </p:spPr>
        <p:txBody>
          <a:bodyPr/>
          <a:lstStyle/>
          <a:p>
            <a:endParaRPr lang="en-US"/>
          </a:p>
        </p:txBody>
      </p:sp>
      <p:sp>
        <p:nvSpPr>
          <p:cNvPr id="39" name="Text 37"/>
          <p:cNvSpPr/>
          <p:nvPr/>
        </p:nvSpPr>
        <p:spPr>
          <a:xfrm>
            <a:off x="5340096" y="2834640"/>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98%</a:t>
            </a:r>
            <a:endParaRPr lang="en-US" sz="1200" dirty="0"/>
          </a:p>
        </p:txBody>
      </p:sp>
      <p:sp>
        <p:nvSpPr>
          <p:cNvPr id="40" name="Shape 38"/>
          <p:cNvSpPr/>
          <p:nvPr/>
        </p:nvSpPr>
        <p:spPr>
          <a:xfrm>
            <a:off x="6995160" y="2798064"/>
            <a:ext cx="1600200" cy="329184"/>
          </a:xfrm>
          <a:prstGeom prst="rect">
            <a:avLst/>
          </a:prstGeom>
          <a:solidFill>
            <a:srgbClr val="FEE2E2"/>
          </a:solidFill>
          <a:ln/>
        </p:spPr>
        <p:txBody>
          <a:bodyPr/>
          <a:lstStyle/>
          <a:p>
            <a:endParaRPr lang="en-US"/>
          </a:p>
        </p:txBody>
      </p:sp>
      <p:sp>
        <p:nvSpPr>
          <p:cNvPr id="41" name="Text 39"/>
          <p:cNvSpPr/>
          <p:nvPr/>
        </p:nvSpPr>
        <p:spPr>
          <a:xfrm>
            <a:off x="7031736" y="2834640"/>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42" name="Shape 40"/>
          <p:cNvSpPr/>
          <p:nvPr/>
        </p:nvSpPr>
        <p:spPr>
          <a:xfrm>
            <a:off x="320040" y="3145536"/>
            <a:ext cx="1508760" cy="329184"/>
          </a:xfrm>
          <a:prstGeom prst="rect">
            <a:avLst/>
          </a:prstGeom>
          <a:solidFill>
            <a:srgbClr val="FFFFFF"/>
          </a:solidFill>
          <a:ln/>
        </p:spPr>
        <p:txBody>
          <a:bodyPr/>
          <a:lstStyle/>
          <a:p>
            <a:endParaRPr lang="en-US"/>
          </a:p>
        </p:txBody>
      </p:sp>
      <p:sp>
        <p:nvSpPr>
          <p:cNvPr id="43" name="Text 41"/>
          <p:cNvSpPr/>
          <p:nvPr/>
        </p:nvSpPr>
        <p:spPr>
          <a:xfrm>
            <a:off x="356616" y="3182112"/>
            <a:ext cx="1435608" cy="25603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ψ₂ (partially linear)</a:t>
            </a:r>
            <a:endParaRPr lang="en-US" sz="1100" dirty="0"/>
          </a:p>
        </p:txBody>
      </p:sp>
      <p:sp>
        <p:nvSpPr>
          <p:cNvPr id="44" name="Shape 42"/>
          <p:cNvSpPr/>
          <p:nvPr/>
        </p:nvSpPr>
        <p:spPr>
          <a:xfrm>
            <a:off x="1920240" y="3145536"/>
            <a:ext cx="1600200" cy="329184"/>
          </a:xfrm>
          <a:prstGeom prst="rect">
            <a:avLst/>
          </a:prstGeom>
          <a:solidFill>
            <a:srgbClr val="D1FAE5"/>
          </a:solidFill>
          <a:ln/>
        </p:spPr>
        <p:txBody>
          <a:bodyPr/>
          <a:lstStyle/>
          <a:p>
            <a:endParaRPr lang="en-US"/>
          </a:p>
        </p:txBody>
      </p:sp>
      <p:sp>
        <p:nvSpPr>
          <p:cNvPr id="45" name="Text 43"/>
          <p:cNvSpPr/>
          <p:nvPr/>
        </p:nvSpPr>
        <p:spPr>
          <a:xfrm>
            <a:off x="1956816" y="3182112"/>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100%</a:t>
            </a:r>
            <a:endParaRPr lang="en-US" sz="1200" dirty="0"/>
          </a:p>
        </p:txBody>
      </p:sp>
      <p:sp>
        <p:nvSpPr>
          <p:cNvPr id="46" name="Shape 44"/>
          <p:cNvSpPr/>
          <p:nvPr/>
        </p:nvSpPr>
        <p:spPr>
          <a:xfrm>
            <a:off x="3611880" y="3145536"/>
            <a:ext cx="1600200" cy="329184"/>
          </a:xfrm>
          <a:prstGeom prst="rect">
            <a:avLst/>
          </a:prstGeom>
          <a:solidFill>
            <a:srgbClr val="FEE2E2"/>
          </a:solidFill>
          <a:ln/>
        </p:spPr>
        <p:txBody>
          <a:bodyPr/>
          <a:lstStyle/>
          <a:p>
            <a:endParaRPr lang="en-US"/>
          </a:p>
        </p:txBody>
      </p:sp>
      <p:sp>
        <p:nvSpPr>
          <p:cNvPr id="47" name="Text 45"/>
          <p:cNvSpPr/>
          <p:nvPr/>
        </p:nvSpPr>
        <p:spPr>
          <a:xfrm>
            <a:off x="3648456" y="3182112"/>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48" name="Shape 46"/>
          <p:cNvSpPr/>
          <p:nvPr/>
        </p:nvSpPr>
        <p:spPr>
          <a:xfrm>
            <a:off x="5303520" y="3145536"/>
            <a:ext cx="1600200" cy="329184"/>
          </a:xfrm>
          <a:prstGeom prst="rect">
            <a:avLst/>
          </a:prstGeom>
          <a:solidFill>
            <a:srgbClr val="D1FAE5"/>
          </a:solidFill>
          <a:ln/>
        </p:spPr>
        <p:txBody>
          <a:bodyPr/>
          <a:lstStyle/>
          <a:p>
            <a:endParaRPr lang="en-US"/>
          </a:p>
        </p:txBody>
      </p:sp>
      <p:sp>
        <p:nvSpPr>
          <p:cNvPr id="49" name="Text 47"/>
          <p:cNvSpPr/>
          <p:nvPr/>
        </p:nvSpPr>
        <p:spPr>
          <a:xfrm>
            <a:off x="5340096" y="3182112"/>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98%</a:t>
            </a:r>
            <a:endParaRPr lang="en-US" sz="1200" dirty="0"/>
          </a:p>
        </p:txBody>
      </p:sp>
      <p:sp>
        <p:nvSpPr>
          <p:cNvPr id="50" name="Shape 48"/>
          <p:cNvSpPr/>
          <p:nvPr/>
        </p:nvSpPr>
        <p:spPr>
          <a:xfrm>
            <a:off x="6995160" y="3145536"/>
            <a:ext cx="1600200" cy="329184"/>
          </a:xfrm>
          <a:prstGeom prst="rect">
            <a:avLst/>
          </a:prstGeom>
          <a:solidFill>
            <a:srgbClr val="FEE2E2"/>
          </a:solidFill>
          <a:ln/>
        </p:spPr>
        <p:txBody>
          <a:bodyPr/>
          <a:lstStyle/>
          <a:p>
            <a:endParaRPr lang="en-US"/>
          </a:p>
        </p:txBody>
      </p:sp>
      <p:sp>
        <p:nvSpPr>
          <p:cNvPr id="51" name="Text 49"/>
          <p:cNvSpPr/>
          <p:nvPr/>
        </p:nvSpPr>
        <p:spPr>
          <a:xfrm>
            <a:off x="7031736" y="3182112"/>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a:t>
            </a:r>
            <a:endParaRPr lang="en-US" sz="1200" dirty="0"/>
          </a:p>
        </p:txBody>
      </p:sp>
      <p:sp>
        <p:nvSpPr>
          <p:cNvPr id="52" name="Shape 50"/>
          <p:cNvSpPr/>
          <p:nvPr/>
        </p:nvSpPr>
        <p:spPr>
          <a:xfrm>
            <a:off x="320040" y="3493008"/>
            <a:ext cx="1508760" cy="329184"/>
          </a:xfrm>
          <a:prstGeom prst="rect">
            <a:avLst/>
          </a:prstGeom>
          <a:solidFill>
            <a:srgbClr val="CCEDE9"/>
          </a:solidFill>
          <a:ln/>
        </p:spPr>
        <p:txBody>
          <a:bodyPr/>
          <a:lstStyle/>
          <a:p>
            <a:endParaRPr lang="en-US"/>
          </a:p>
        </p:txBody>
      </p:sp>
      <p:sp>
        <p:nvSpPr>
          <p:cNvPr id="53" name="Text 51"/>
          <p:cNvSpPr/>
          <p:nvPr/>
        </p:nvSpPr>
        <p:spPr>
          <a:xfrm>
            <a:off x="356616" y="3529584"/>
            <a:ext cx="1435608"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ψ₃ — additive ✓</a:t>
            </a:r>
            <a:endParaRPr lang="en-US" sz="1100" dirty="0"/>
          </a:p>
        </p:txBody>
      </p:sp>
      <p:sp>
        <p:nvSpPr>
          <p:cNvPr id="54" name="Shape 52"/>
          <p:cNvSpPr/>
          <p:nvPr/>
        </p:nvSpPr>
        <p:spPr>
          <a:xfrm>
            <a:off x="1920240" y="3493008"/>
            <a:ext cx="1600200" cy="329184"/>
          </a:xfrm>
          <a:prstGeom prst="rect">
            <a:avLst/>
          </a:prstGeom>
          <a:solidFill>
            <a:srgbClr val="D1FAE5"/>
          </a:solidFill>
          <a:ln/>
        </p:spPr>
        <p:txBody>
          <a:bodyPr/>
          <a:lstStyle/>
          <a:p>
            <a:endParaRPr lang="en-US"/>
          </a:p>
        </p:txBody>
      </p:sp>
      <p:sp>
        <p:nvSpPr>
          <p:cNvPr id="55" name="Text 53"/>
          <p:cNvSpPr/>
          <p:nvPr/>
        </p:nvSpPr>
        <p:spPr>
          <a:xfrm>
            <a:off x="1956816" y="3529584"/>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97%</a:t>
            </a:r>
            <a:endParaRPr lang="en-US" sz="1200" dirty="0"/>
          </a:p>
        </p:txBody>
      </p:sp>
      <p:sp>
        <p:nvSpPr>
          <p:cNvPr id="56" name="Shape 54"/>
          <p:cNvSpPr/>
          <p:nvPr/>
        </p:nvSpPr>
        <p:spPr>
          <a:xfrm>
            <a:off x="3611880" y="3493008"/>
            <a:ext cx="1600200" cy="329184"/>
          </a:xfrm>
          <a:prstGeom prst="rect">
            <a:avLst/>
          </a:prstGeom>
          <a:solidFill>
            <a:srgbClr val="D1FAE5"/>
          </a:solidFill>
          <a:ln/>
        </p:spPr>
        <p:txBody>
          <a:bodyPr/>
          <a:lstStyle/>
          <a:p>
            <a:endParaRPr lang="en-US"/>
          </a:p>
        </p:txBody>
      </p:sp>
      <p:sp>
        <p:nvSpPr>
          <p:cNvPr id="57" name="Text 55"/>
          <p:cNvSpPr/>
          <p:nvPr/>
        </p:nvSpPr>
        <p:spPr>
          <a:xfrm>
            <a:off x="3648456" y="3529584"/>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92%</a:t>
            </a:r>
            <a:endParaRPr lang="en-US" sz="1200" dirty="0"/>
          </a:p>
        </p:txBody>
      </p:sp>
      <p:sp>
        <p:nvSpPr>
          <p:cNvPr id="58" name="Shape 56"/>
          <p:cNvSpPr/>
          <p:nvPr/>
        </p:nvSpPr>
        <p:spPr>
          <a:xfrm>
            <a:off x="5303520" y="3493008"/>
            <a:ext cx="1600200" cy="329184"/>
          </a:xfrm>
          <a:prstGeom prst="rect">
            <a:avLst/>
          </a:prstGeom>
          <a:solidFill>
            <a:srgbClr val="D1FAE5"/>
          </a:solidFill>
          <a:ln/>
        </p:spPr>
        <p:txBody>
          <a:bodyPr/>
          <a:lstStyle/>
          <a:p>
            <a:endParaRPr lang="en-US"/>
          </a:p>
        </p:txBody>
      </p:sp>
      <p:sp>
        <p:nvSpPr>
          <p:cNvPr id="59" name="Text 57"/>
          <p:cNvSpPr/>
          <p:nvPr/>
        </p:nvSpPr>
        <p:spPr>
          <a:xfrm>
            <a:off x="5340096" y="3529584"/>
            <a:ext cx="1527048" cy="256032"/>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98%</a:t>
            </a:r>
            <a:endParaRPr lang="en-US" sz="1200" dirty="0"/>
          </a:p>
        </p:txBody>
      </p:sp>
      <p:sp>
        <p:nvSpPr>
          <p:cNvPr id="60" name="Shape 58"/>
          <p:cNvSpPr/>
          <p:nvPr/>
        </p:nvSpPr>
        <p:spPr>
          <a:xfrm>
            <a:off x="6995160" y="3493008"/>
            <a:ext cx="1600200" cy="329184"/>
          </a:xfrm>
          <a:prstGeom prst="rect">
            <a:avLst/>
          </a:prstGeom>
          <a:solidFill>
            <a:srgbClr val="FEF9C3"/>
          </a:solidFill>
          <a:ln/>
        </p:spPr>
        <p:txBody>
          <a:bodyPr/>
          <a:lstStyle/>
          <a:p>
            <a:endParaRPr lang="en-US"/>
          </a:p>
        </p:txBody>
      </p:sp>
      <p:sp>
        <p:nvSpPr>
          <p:cNvPr id="61" name="Text 59"/>
          <p:cNvSpPr/>
          <p:nvPr/>
        </p:nvSpPr>
        <p:spPr>
          <a:xfrm>
            <a:off x="7031736" y="3529584"/>
            <a:ext cx="1527048" cy="25603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85%</a:t>
            </a:r>
            <a:endParaRPr lang="en-US" sz="1200" dirty="0"/>
          </a:p>
        </p:txBody>
      </p:sp>
      <p:sp>
        <p:nvSpPr>
          <p:cNvPr id="62" name="Shape 60"/>
          <p:cNvSpPr/>
          <p:nvPr/>
        </p:nvSpPr>
        <p:spPr>
          <a:xfrm>
            <a:off x="320040" y="3913632"/>
            <a:ext cx="256032" cy="182880"/>
          </a:xfrm>
          <a:prstGeom prst="rect">
            <a:avLst/>
          </a:prstGeom>
          <a:solidFill>
            <a:srgbClr val="D1FAE5"/>
          </a:solidFill>
          <a:ln/>
        </p:spPr>
        <p:txBody>
          <a:bodyPr/>
          <a:lstStyle/>
          <a:p>
            <a:endParaRPr lang="en-US"/>
          </a:p>
        </p:txBody>
      </p:sp>
      <p:sp>
        <p:nvSpPr>
          <p:cNvPr id="63" name="Text 61"/>
          <p:cNvSpPr/>
          <p:nvPr/>
        </p:nvSpPr>
        <p:spPr>
          <a:xfrm>
            <a:off x="658368" y="3913632"/>
            <a:ext cx="1280160" cy="18288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≥90% (good)</a:t>
            </a:r>
            <a:endParaRPr lang="en-US" sz="950" dirty="0"/>
          </a:p>
        </p:txBody>
      </p:sp>
      <p:sp>
        <p:nvSpPr>
          <p:cNvPr id="64" name="Shape 62"/>
          <p:cNvSpPr/>
          <p:nvPr/>
        </p:nvSpPr>
        <p:spPr>
          <a:xfrm>
            <a:off x="2148840" y="3913632"/>
            <a:ext cx="256032" cy="182880"/>
          </a:xfrm>
          <a:prstGeom prst="rect">
            <a:avLst/>
          </a:prstGeom>
          <a:solidFill>
            <a:srgbClr val="FEF9C3"/>
          </a:solidFill>
          <a:ln/>
        </p:spPr>
        <p:txBody>
          <a:bodyPr/>
          <a:lstStyle/>
          <a:p>
            <a:endParaRPr lang="en-US"/>
          </a:p>
        </p:txBody>
      </p:sp>
      <p:sp>
        <p:nvSpPr>
          <p:cNvPr id="65" name="Text 63"/>
          <p:cNvSpPr/>
          <p:nvPr/>
        </p:nvSpPr>
        <p:spPr>
          <a:xfrm>
            <a:off x="2487168" y="3913632"/>
            <a:ext cx="1554480" cy="18288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70-89% (marginal)</a:t>
            </a:r>
            <a:endParaRPr lang="en-US" sz="950" dirty="0"/>
          </a:p>
        </p:txBody>
      </p:sp>
      <p:sp>
        <p:nvSpPr>
          <p:cNvPr id="66" name="Shape 64"/>
          <p:cNvSpPr/>
          <p:nvPr/>
        </p:nvSpPr>
        <p:spPr>
          <a:xfrm>
            <a:off x="4297680" y="3913632"/>
            <a:ext cx="256032" cy="182880"/>
          </a:xfrm>
          <a:prstGeom prst="rect">
            <a:avLst/>
          </a:prstGeom>
          <a:solidFill>
            <a:srgbClr val="FEE2E2"/>
          </a:solidFill>
          <a:ln/>
        </p:spPr>
        <p:txBody>
          <a:bodyPr/>
          <a:lstStyle/>
          <a:p>
            <a:endParaRPr lang="en-US"/>
          </a:p>
        </p:txBody>
      </p:sp>
      <p:sp>
        <p:nvSpPr>
          <p:cNvPr id="67" name="Text 65"/>
          <p:cNvSpPr/>
          <p:nvPr/>
        </p:nvSpPr>
        <p:spPr>
          <a:xfrm>
            <a:off x="4636008" y="3913632"/>
            <a:ext cx="1280160" cy="18288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&lt;70% (poor)</a:t>
            </a:r>
            <a:endParaRPr lang="en-US" sz="950" dirty="0"/>
          </a:p>
        </p:txBody>
      </p:sp>
      <p:sp>
        <p:nvSpPr>
          <p:cNvPr id="68" name="Text 66"/>
          <p:cNvSpPr/>
          <p:nvPr/>
        </p:nvSpPr>
        <p:spPr>
          <a:xfrm>
            <a:off x="5669280" y="3913632"/>
            <a:ext cx="3200400" cy="18288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Coverage of ψ₀ across 100 simulations, n=10,000, additive nuisance models.</a:t>
            </a:r>
            <a:endParaRPr lang="en-US" sz="950" dirty="0"/>
          </a:p>
        </p:txBody>
      </p:sp>
      <p:sp>
        <p:nvSpPr>
          <p:cNvPr id="69" name="Shape 67"/>
          <p:cNvSpPr/>
          <p:nvPr/>
        </p:nvSpPr>
        <p:spPr>
          <a:xfrm>
            <a:off x="320040" y="4187952"/>
            <a:ext cx="8503920" cy="731520"/>
          </a:xfrm>
          <a:prstGeom prst="rect">
            <a:avLst/>
          </a:prstGeom>
          <a:solidFill>
            <a:srgbClr val="EFF6FF"/>
          </a:solidFill>
          <a:ln/>
          <a:effectLst>
            <a:outerShdw blurRad="50800" dist="25400" dir="8100000" algn="bl" rotWithShape="0">
              <a:srgbClr val="000000">
                <a:alpha val="7000"/>
              </a:srgbClr>
            </a:outerShdw>
          </a:effectLst>
        </p:spPr>
        <p:txBody>
          <a:bodyPr/>
          <a:lstStyle/>
          <a:p>
            <a:endParaRPr lang="en-US"/>
          </a:p>
        </p:txBody>
      </p:sp>
      <p:sp>
        <p:nvSpPr>
          <p:cNvPr id="70" name="Shape 68"/>
          <p:cNvSpPr/>
          <p:nvPr/>
        </p:nvSpPr>
        <p:spPr>
          <a:xfrm>
            <a:off x="320040" y="4187952"/>
            <a:ext cx="64008" cy="731520"/>
          </a:xfrm>
          <a:prstGeom prst="rect">
            <a:avLst/>
          </a:prstGeom>
          <a:solidFill>
            <a:srgbClr val="0F2647"/>
          </a:solidFill>
          <a:ln/>
        </p:spPr>
        <p:txBody>
          <a:bodyPr/>
          <a:lstStyle/>
          <a:p>
            <a:endParaRPr lang="en-US"/>
          </a:p>
        </p:txBody>
      </p:sp>
      <p:sp>
        <p:nvSpPr>
          <p:cNvPr id="71" name="Text 69"/>
          <p:cNvSpPr/>
          <p:nvPr/>
        </p:nvSpPr>
        <p:spPr>
          <a:xfrm>
            <a:off x="502920" y="4224528"/>
            <a:ext cx="8138160" cy="274320"/>
          </a:xfrm>
          <a:prstGeom prst="rect">
            <a:avLst/>
          </a:prstGeom>
          <a:noFill/>
          <a:ln/>
        </p:spPr>
        <p:txBody>
          <a:bodyPr wrap="square" lIns="0" tIns="0" rIns="0" bIns="0" rtlCol="0" anchor="ctr"/>
          <a:lstStyle/>
          <a:p>
            <a:pPr marL="0" indent="0">
              <a:buNone/>
            </a:pPr>
            <a:r>
              <a:rPr lang="en-US" sz="1200" b="1" dirty="0">
                <a:solidFill>
                  <a:srgbClr val="0F2647"/>
                </a:solidFill>
                <a:latin typeface="Trebuchet MS" pitchFamily="34" charset="0"/>
                <a:ea typeface="Trebuchet MS" pitchFamily="34" charset="-122"/>
                <a:cs typeface="Trebuchet MS" pitchFamily="34" charset="-120"/>
              </a:rPr>
              <a:t>Reproduced from released code (R packages mgcv + grf):</a:t>
            </a:r>
            <a:endParaRPr lang="en-US" sz="1200" dirty="0"/>
          </a:p>
        </p:txBody>
      </p:sp>
      <p:sp>
        <p:nvSpPr>
          <p:cNvPr id="72" name="Text 70"/>
          <p:cNvSpPr/>
          <p:nvPr/>
        </p:nvSpPr>
        <p:spPr>
          <a:xfrm>
            <a:off x="502920" y="4517136"/>
            <a:ext cx="8138160" cy="34747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Running the authors' R scripts on Example 1 confirmed that ψL coverage collapses from ~95% to near 0% as correlation ρ increases from 0 to 1, while ψ₃ maintains ~90% coverage throughout — consistent with Figure 2 in the paper.</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2000" advTm="66430"/>
    </mc:Choice>
    <mc:Fallback xmlns="">
      <p:transition spd="slow" advTm="6643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Why Not Shapley Values?</a:t>
            </a:r>
            <a:endParaRPr lang="en-US" sz="2400" dirty="0"/>
          </a:p>
        </p:txBody>
      </p:sp>
      <p:sp>
        <p:nvSpPr>
          <p:cNvPr id="4" name="Shape 2"/>
          <p:cNvSpPr/>
          <p:nvPr/>
        </p:nvSpPr>
        <p:spPr>
          <a:xfrm>
            <a:off x="320040" y="987552"/>
            <a:ext cx="3977640"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987552"/>
            <a:ext cx="64008" cy="1920240"/>
          </a:xfrm>
          <a:prstGeom prst="rect">
            <a:avLst/>
          </a:prstGeom>
          <a:solidFill>
            <a:srgbClr val="0D9488"/>
          </a:solidFill>
          <a:ln/>
        </p:spPr>
        <p:txBody>
          <a:bodyPr/>
          <a:lstStyle/>
          <a:p>
            <a:endParaRPr lang="en-US"/>
          </a:p>
        </p:txBody>
      </p:sp>
      <p:sp>
        <p:nvSpPr>
          <p:cNvPr id="6" name="Text 4"/>
          <p:cNvSpPr/>
          <p:nvPr/>
        </p:nvSpPr>
        <p:spPr>
          <a:xfrm>
            <a:off x="484632" y="1097280"/>
            <a:ext cx="3721608" cy="347472"/>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What Shapley values do</a:t>
            </a:r>
            <a:endParaRPr lang="en-US" sz="1300" dirty="0"/>
          </a:p>
        </p:txBody>
      </p:sp>
      <p:sp>
        <p:nvSpPr>
          <p:cNvPr id="7" name="Text 5"/>
          <p:cNvSpPr/>
          <p:nvPr/>
        </p:nvSpPr>
        <p:spPr>
          <a:xfrm>
            <a:off x="484632" y="1499616"/>
            <a:ext cx="3721608" cy="12984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Average LOCO over all 2ᵈ subsets of variables:</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sⱼ = avg over S of [V(S∪{j}) − V(S)]</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Axiomatically appealing — but inherited from cooperative game theory, not regression.</a:t>
            </a:r>
            <a:endParaRPr lang="en-US" sz="1200" dirty="0"/>
          </a:p>
        </p:txBody>
      </p:sp>
      <p:sp>
        <p:nvSpPr>
          <p:cNvPr id="8" name="Shape 6"/>
          <p:cNvSpPr/>
          <p:nvPr/>
        </p:nvSpPr>
        <p:spPr>
          <a:xfrm>
            <a:off x="4572000" y="987552"/>
            <a:ext cx="4251960"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0" y="987552"/>
            <a:ext cx="64008" cy="1920240"/>
          </a:xfrm>
          <a:prstGeom prst="rect">
            <a:avLst/>
          </a:prstGeom>
          <a:solidFill>
            <a:srgbClr val="DC2626"/>
          </a:solidFill>
          <a:ln/>
        </p:spPr>
        <p:txBody>
          <a:bodyPr/>
          <a:lstStyle/>
          <a:p>
            <a:endParaRPr lang="en-US"/>
          </a:p>
        </p:txBody>
      </p:sp>
      <p:sp>
        <p:nvSpPr>
          <p:cNvPr id="10" name="Text 8"/>
          <p:cNvSpPr/>
          <p:nvPr/>
        </p:nvSpPr>
        <p:spPr>
          <a:xfrm>
            <a:off x="4736592" y="1097280"/>
            <a:ext cx="3995928" cy="347472"/>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They still suffer from correlation distortion</a:t>
            </a:r>
            <a:endParaRPr lang="en-US" sz="1300" dirty="0"/>
          </a:p>
        </p:txBody>
      </p:sp>
      <p:sp>
        <p:nvSpPr>
          <p:cNvPr id="11" name="Text 9"/>
          <p:cNvSpPr/>
          <p:nvPr/>
        </p:nvSpPr>
        <p:spPr>
          <a:xfrm>
            <a:off x="4736592" y="1499616"/>
            <a:ext cx="3995928" cy="12984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If Y = βZ₁ + ε and all d variables are perfectly correlated:</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s₁ = β²/d  →  0  as d grows</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ψ₀ gives β² — the correct, stable answer.</a:t>
            </a:r>
            <a:endParaRPr lang="en-US" sz="1200" dirty="0"/>
          </a:p>
        </p:txBody>
      </p:sp>
      <p:sp>
        <p:nvSpPr>
          <p:cNvPr id="12" name="Shape 10"/>
          <p:cNvSpPr/>
          <p:nvPr/>
        </p:nvSpPr>
        <p:spPr>
          <a:xfrm>
            <a:off x="320040" y="3063240"/>
            <a:ext cx="3977640" cy="18745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320040" y="3063240"/>
            <a:ext cx="64008" cy="1874520"/>
          </a:xfrm>
          <a:prstGeom prst="rect">
            <a:avLst/>
          </a:prstGeom>
          <a:solidFill>
            <a:srgbClr val="0F2647"/>
          </a:solidFill>
          <a:ln/>
        </p:spPr>
        <p:txBody>
          <a:bodyPr/>
          <a:lstStyle/>
          <a:p>
            <a:endParaRPr lang="en-US"/>
          </a:p>
        </p:txBody>
      </p:sp>
      <p:sp>
        <p:nvSpPr>
          <p:cNvPr id="14" name="Text 12"/>
          <p:cNvSpPr/>
          <p:nvPr/>
        </p:nvSpPr>
        <p:spPr>
          <a:xfrm>
            <a:off x="484632" y="3172968"/>
            <a:ext cx="3721608" cy="347472"/>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Second problem: irrelevant submodels</a:t>
            </a:r>
            <a:endParaRPr lang="en-US" sz="1300" dirty="0"/>
          </a:p>
        </p:txBody>
      </p:sp>
      <p:sp>
        <p:nvSpPr>
          <p:cNvPr id="15" name="Text 13"/>
          <p:cNvSpPr/>
          <p:nvPr/>
        </p:nvSpPr>
        <p:spPr>
          <a:xfrm>
            <a:off x="484632" y="3575304"/>
            <a:ext cx="3721608" cy="125272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Shapley averages over most submodels which are poor fits to data and of no practical interest. This dilutes the importance signal unnecessarily.</a:t>
            </a:r>
            <a:endParaRPr lang="en-US" sz="1200" dirty="0"/>
          </a:p>
        </p:txBody>
      </p:sp>
      <p:sp>
        <p:nvSpPr>
          <p:cNvPr id="16" name="Shape 14"/>
          <p:cNvSpPr/>
          <p:nvPr/>
        </p:nvSpPr>
        <p:spPr>
          <a:xfrm>
            <a:off x="4572000" y="3063240"/>
            <a:ext cx="4251960" cy="18745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572000" y="3063240"/>
            <a:ext cx="64008" cy="1874520"/>
          </a:xfrm>
          <a:prstGeom prst="rect">
            <a:avLst/>
          </a:prstGeom>
          <a:solidFill>
            <a:srgbClr val="0D9488"/>
          </a:solidFill>
          <a:ln/>
        </p:spPr>
        <p:txBody>
          <a:bodyPr/>
          <a:lstStyle/>
          <a:p>
            <a:endParaRPr lang="en-US"/>
          </a:p>
        </p:txBody>
      </p:sp>
      <p:sp>
        <p:nvSpPr>
          <p:cNvPr id="18" name="Text 16"/>
          <p:cNvSpPr/>
          <p:nvPr/>
        </p:nvSpPr>
        <p:spPr>
          <a:xfrm>
            <a:off x="4736592" y="3172968"/>
            <a:ext cx="3995928" cy="347472"/>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When Shapley values ARE appropriate</a:t>
            </a:r>
            <a:endParaRPr lang="en-US" sz="1300" dirty="0"/>
          </a:p>
        </p:txBody>
      </p:sp>
      <p:sp>
        <p:nvSpPr>
          <p:cNvPr id="19" name="Text 17"/>
          <p:cNvSpPr/>
          <p:nvPr/>
        </p:nvSpPr>
        <p:spPr>
          <a:xfrm>
            <a:off x="4736592" y="3575304"/>
            <a:ext cx="3995928" cy="125272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Independent features (e.g. designed computer experiments). For correlated observational data, decorrelated LOCO is the more principled choice.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advTm="88230"/>
    </mc:Choice>
    <mc:Fallback xmlns="">
      <p:transition spd="slow" advTm="8823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2647"/>
          </a:solidFill>
          <a:ln/>
        </p:spPr>
        <p:txBody>
          <a:bodyPr/>
          <a:lstStyle/>
          <a:p>
            <a:endParaRPr lang="en-US"/>
          </a:p>
        </p:txBody>
      </p:sp>
      <p:sp>
        <p:nvSpPr>
          <p:cNvPr id="3" name="Text 1"/>
          <p:cNvSpPr/>
          <p:nvPr/>
        </p:nvSpPr>
        <p:spPr>
          <a:xfrm>
            <a:off x="457200" y="73152"/>
            <a:ext cx="8229600" cy="713232"/>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Future Directions</a:t>
            </a:r>
            <a:endParaRPr lang="en-US" sz="2400" dirty="0"/>
          </a:p>
        </p:txBody>
      </p:sp>
      <p:sp>
        <p:nvSpPr>
          <p:cNvPr id="4" name="Shape 2"/>
          <p:cNvSpPr/>
          <p:nvPr/>
        </p:nvSpPr>
        <p:spPr>
          <a:xfrm>
            <a:off x="320040" y="987552"/>
            <a:ext cx="8503920" cy="566928"/>
          </a:xfrm>
          <a:prstGeom prst="rect">
            <a:avLst/>
          </a:prstGeom>
          <a:solidFill>
            <a:srgbClr val="CCEDE9"/>
          </a:solidFill>
          <a:ln/>
        </p:spPr>
        <p:txBody>
          <a:bodyPr/>
          <a:lstStyle/>
          <a:p>
            <a:endParaRPr lang="en-US"/>
          </a:p>
        </p:txBody>
      </p:sp>
      <p:sp>
        <p:nvSpPr>
          <p:cNvPr id="5" name="Text 3"/>
          <p:cNvSpPr/>
          <p:nvPr/>
        </p:nvSpPr>
        <p:spPr>
          <a:xfrm>
            <a:off x="457200" y="1005840"/>
            <a:ext cx="8321040" cy="530352"/>
          </a:xfrm>
          <a:prstGeom prst="rect">
            <a:avLst/>
          </a:prstGeom>
          <a:noFill/>
          <a:ln/>
        </p:spPr>
        <p:txBody>
          <a:bodyPr wrap="square" rtlCol="0" anchor="ctr"/>
          <a:lstStyle/>
          <a:p>
            <a:pPr marL="0" indent="0">
              <a:buNone/>
            </a:pPr>
            <a:r>
              <a:rPr lang="en-US" sz="1250" i="1" dirty="0">
                <a:solidFill>
                  <a:srgbClr val="1E293B"/>
                </a:solidFill>
                <a:latin typeface="Calibri" pitchFamily="34" charset="0"/>
                <a:ea typeface="Calibri" pitchFamily="34" charset="-122"/>
                <a:cs typeface="Calibri" pitchFamily="34" charset="-120"/>
              </a:rPr>
              <a:t>Authors noted: extension to high-dimensional settings via sparsity-based nuisance estimators is planned future work.</a:t>
            </a:r>
            <a:endParaRPr lang="en-US" sz="1250" dirty="0"/>
          </a:p>
        </p:txBody>
      </p:sp>
      <p:sp>
        <p:nvSpPr>
          <p:cNvPr id="6" name="Shape 4"/>
          <p:cNvSpPr/>
          <p:nvPr/>
        </p:nvSpPr>
        <p:spPr>
          <a:xfrm>
            <a:off x="320040" y="1664208"/>
            <a:ext cx="8503920" cy="3291840"/>
          </a:xfrm>
          <a:prstGeom prst="rect">
            <a:avLst/>
          </a:prstGeom>
          <a:solidFill>
            <a:srgbClr val="FFFFFF"/>
          </a:solidFill>
          <a:ln/>
          <a:effectLst>
            <a:outerShdw blurRad="114300" dist="38100" dir="8100000" algn="bl" rotWithShape="0">
              <a:srgbClr val="000000">
                <a:alpha val="10000"/>
              </a:srgbClr>
            </a:outerShdw>
          </a:effectLst>
        </p:spPr>
        <p:txBody>
          <a:bodyPr/>
          <a:lstStyle/>
          <a:p>
            <a:endParaRPr lang="en-US"/>
          </a:p>
        </p:txBody>
      </p:sp>
      <p:sp>
        <p:nvSpPr>
          <p:cNvPr id="7" name="Shape 5"/>
          <p:cNvSpPr/>
          <p:nvPr/>
        </p:nvSpPr>
        <p:spPr>
          <a:xfrm>
            <a:off x="320040" y="1664208"/>
            <a:ext cx="8503920" cy="64008"/>
          </a:xfrm>
          <a:prstGeom prst="rect">
            <a:avLst/>
          </a:prstGeom>
          <a:solidFill>
            <a:srgbClr val="0D9488"/>
          </a:solidFill>
          <a:ln/>
        </p:spPr>
        <p:txBody>
          <a:bodyPr/>
          <a:lstStyle/>
          <a:p>
            <a:endParaRPr lang="en-US"/>
          </a:p>
        </p:txBody>
      </p:sp>
      <p:sp>
        <p:nvSpPr>
          <p:cNvPr id="8" name="Shape 6"/>
          <p:cNvSpPr/>
          <p:nvPr/>
        </p:nvSpPr>
        <p:spPr>
          <a:xfrm>
            <a:off x="438912" y="1792224"/>
            <a:ext cx="384048" cy="384048"/>
          </a:xfrm>
          <a:prstGeom prst="ellipse">
            <a:avLst/>
          </a:prstGeom>
          <a:solidFill>
            <a:srgbClr val="0D9488"/>
          </a:solidFill>
          <a:ln/>
        </p:spPr>
        <p:txBody>
          <a:bodyPr/>
          <a:lstStyle/>
          <a:p>
            <a:endParaRPr lang="en-US"/>
          </a:p>
        </p:txBody>
      </p:sp>
      <p:sp>
        <p:nvSpPr>
          <p:cNvPr id="9" name="Text 7"/>
          <p:cNvSpPr/>
          <p:nvPr/>
        </p:nvSpPr>
        <p:spPr>
          <a:xfrm>
            <a:off x="438912" y="177393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932688" y="1792224"/>
            <a:ext cx="7726680" cy="411480"/>
          </a:xfrm>
          <a:prstGeom prst="rect">
            <a:avLst/>
          </a:prstGeom>
          <a:noFill/>
          <a:ln/>
        </p:spPr>
        <p:txBody>
          <a:bodyPr wrap="square" lIns="0" tIns="0" rIns="0" bIns="0" rtlCol="0" anchor="ctr"/>
          <a:lstStyle/>
          <a:p>
            <a:pPr marL="0" indent="0">
              <a:buNone/>
            </a:pPr>
            <a:r>
              <a:rPr lang="en-US" sz="1500" b="1" dirty="0">
                <a:solidFill>
                  <a:srgbClr val="0D9488"/>
                </a:solidFill>
                <a:latin typeface="Trebuchet MS" pitchFamily="34" charset="0"/>
                <a:ea typeface="Trebuchet MS" pitchFamily="34" charset="-122"/>
                <a:cs typeface="Trebuchet MS" pitchFamily="34" charset="-120"/>
              </a:rPr>
              <a:t>Proposed New Direction: Adaptive Decorrelation for Time-Series &amp; Causal Settings</a:t>
            </a:r>
            <a:endParaRPr lang="en-US" sz="1500" dirty="0"/>
          </a:p>
        </p:txBody>
      </p:sp>
      <p:sp>
        <p:nvSpPr>
          <p:cNvPr id="11" name="Shape 9"/>
          <p:cNvSpPr/>
          <p:nvPr/>
        </p:nvSpPr>
        <p:spPr>
          <a:xfrm>
            <a:off x="457200" y="2340864"/>
            <a:ext cx="2743200" cy="365760"/>
          </a:xfrm>
          <a:prstGeom prst="rect">
            <a:avLst/>
          </a:prstGeom>
          <a:solidFill>
            <a:srgbClr val="F4F7F9"/>
          </a:solidFill>
          <a:ln/>
        </p:spPr>
        <p:txBody>
          <a:bodyPr/>
          <a:lstStyle/>
          <a:p>
            <a:endParaRPr lang="en-US"/>
          </a:p>
        </p:txBody>
      </p:sp>
      <p:sp>
        <p:nvSpPr>
          <p:cNvPr id="12" name="Text 10"/>
          <p:cNvSpPr/>
          <p:nvPr/>
        </p:nvSpPr>
        <p:spPr>
          <a:xfrm>
            <a:off x="548640" y="2359152"/>
            <a:ext cx="2560320" cy="329184"/>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The Gap</a:t>
            </a:r>
            <a:endParaRPr lang="en-US" sz="1250" dirty="0"/>
          </a:p>
        </p:txBody>
      </p:sp>
      <p:sp>
        <p:nvSpPr>
          <p:cNvPr id="13" name="Text 11"/>
          <p:cNvSpPr/>
          <p:nvPr/>
        </p:nvSpPr>
        <p:spPr>
          <a:xfrm>
            <a:off x="530352" y="2761488"/>
            <a:ext cx="2633472" cy="208483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This paper assumes i.i.d. data and static covariate correlation. In time-series and longitudinal settings, the correlation between X and Z varies over time — and in causal inference, we care about time-varying treatment effects.</a:t>
            </a:r>
            <a:endParaRPr lang="en-US" sz="1150" dirty="0"/>
          </a:p>
        </p:txBody>
      </p:sp>
      <p:sp>
        <p:nvSpPr>
          <p:cNvPr id="14" name="Shape 12"/>
          <p:cNvSpPr/>
          <p:nvPr/>
        </p:nvSpPr>
        <p:spPr>
          <a:xfrm>
            <a:off x="3337560" y="2340864"/>
            <a:ext cx="2743200" cy="365760"/>
          </a:xfrm>
          <a:prstGeom prst="rect">
            <a:avLst/>
          </a:prstGeom>
          <a:solidFill>
            <a:srgbClr val="F4F7F9"/>
          </a:solidFill>
          <a:ln/>
        </p:spPr>
        <p:txBody>
          <a:bodyPr/>
          <a:lstStyle/>
          <a:p>
            <a:endParaRPr lang="en-US"/>
          </a:p>
        </p:txBody>
      </p:sp>
      <p:sp>
        <p:nvSpPr>
          <p:cNvPr id="15" name="Text 13"/>
          <p:cNvSpPr/>
          <p:nvPr/>
        </p:nvSpPr>
        <p:spPr>
          <a:xfrm>
            <a:off x="3429000" y="2359152"/>
            <a:ext cx="2560320" cy="329184"/>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The Idea</a:t>
            </a:r>
            <a:endParaRPr lang="en-US" sz="1250" dirty="0"/>
          </a:p>
        </p:txBody>
      </p:sp>
      <p:sp>
        <p:nvSpPr>
          <p:cNvPr id="16" name="Text 14"/>
          <p:cNvSpPr/>
          <p:nvPr/>
        </p:nvSpPr>
        <p:spPr>
          <a:xfrm>
            <a:off x="3410712" y="2761488"/>
            <a:ext cx="2633472" cy="208483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Extend ψ₃ with a time-indexed semiparametric model: μ(x,z,t) = βᵀ(t)X + f(z,t). The decorrelated parameter becomes ψ₀(t) — a trajectory of importance over time. This connects naturally to longitudinal causal models (e.g. MSMs).</a:t>
            </a:r>
            <a:endParaRPr lang="en-US" sz="1150" dirty="0"/>
          </a:p>
        </p:txBody>
      </p:sp>
      <p:sp>
        <p:nvSpPr>
          <p:cNvPr id="17" name="Shape 15"/>
          <p:cNvSpPr/>
          <p:nvPr/>
        </p:nvSpPr>
        <p:spPr>
          <a:xfrm>
            <a:off x="6217920" y="2340864"/>
            <a:ext cx="2743200" cy="365760"/>
          </a:xfrm>
          <a:prstGeom prst="rect">
            <a:avLst/>
          </a:prstGeom>
          <a:solidFill>
            <a:srgbClr val="F4F7F9"/>
          </a:solidFill>
          <a:ln/>
        </p:spPr>
        <p:txBody>
          <a:bodyPr/>
          <a:lstStyle/>
          <a:p>
            <a:endParaRPr lang="en-US"/>
          </a:p>
        </p:txBody>
      </p:sp>
      <p:sp>
        <p:nvSpPr>
          <p:cNvPr id="18" name="Text 16"/>
          <p:cNvSpPr/>
          <p:nvPr/>
        </p:nvSpPr>
        <p:spPr>
          <a:xfrm>
            <a:off x="6309360" y="2359152"/>
            <a:ext cx="2560320" cy="329184"/>
          </a:xfrm>
          <a:prstGeom prst="rect">
            <a:avLst/>
          </a:prstGeom>
          <a:noFill/>
          <a:ln/>
        </p:spPr>
        <p:txBody>
          <a:bodyPr wrap="square" lIns="0" tIns="0" rIns="0" bIns="0" rtlCol="0" anchor="ctr"/>
          <a:lstStyle/>
          <a:p>
            <a:pPr marL="0" indent="0">
              <a:buNone/>
            </a:pPr>
            <a:r>
              <a:rPr lang="en-US" sz="1250" b="1" dirty="0">
                <a:solidFill>
                  <a:srgbClr val="0F2647"/>
                </a:solidFill>
                <a:latin typeface="Trebuchet MS" pitchFamily="34" charset="0"/>
                <a:ea typeface="Trebuchet MS" pitchFamily="34" charset="-122"/>
                <a:cs typeface="Trebuchet MS" pitchFamily="34" charset="-120"/>
              </a:rPr>
              <a:t>Why It Matters</a:t>
            </a:r>
            <a:endParaRPr lang="en-US" sz="1250" dirty="0"/>
          </a:p>
        </p:txBody>
      </p:sp>
      <p:sp>
        <p:nvSpPr>
          <p:cNvPr id="19" name="Text 17"/>
          <p:cNvSpPr/>
          <p:nvPr/>
        </p:nvSpPr>
        <p:spPr>
          <a:xfrm>
            <a:off x="6291072" y="2761488"/>
            <a:ext cx="2633472" cy="208483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Many real applications have temporal structure: EHR data, financial series, clinical trials. A time-varying decorrelated importance measure could unlock interpretability for sequential prediction models and reinforce causal claims.</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2000" advTm="100128"/>
    </mc:Choice>
    <mc:Fallback xmlns="">
      <p:transition spd="slow" advTm="10012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647"/>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0D9488"/>
          </a:solidFill>
          <a:ln/>
        </p:spPr>
        <p:txBody>
          <a:bodyPr/>
          <a:lstStyle/>
          <a:p>
            <a:endParaRPr lang="en-US"/>
          </a:p>
        </p:txBody>
      </p:sp>
      <p:sp>
        <p:nvSpPr>
          <p:cNvPr id="3" name="Text 1"/>
          <p:cNvSpPr/>
          <p:nvPr/>
        </p:nvSpPr>
        <p:spPr>
          <a:xfrm>
            <a:off x="502920" y="256032"/>
            <a:ext cx="5852160" cy="566928"/>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4" name="Shape 2"/>
          <p:cNvSpPr/>
          <p:nvPr/>
        </p:nvSpPr>
        <p:spPr>
          <a:xfrm>
            <a:off x="438912" y="969264"/>
            <a:ext cx="365760" cy="365760"/>
          </a:xfrm>
          <a:prstGeom prst="ellipse">
            <a:avLst/>
          </a:prstGeom>
          <a:solidFill>
            <a:srgbClr val="DC2626"/>
          </a:solidFill>
          <a:ln/>
        </p:spPr>
        <p:txBody>
          <a:bodyPr/>
          <a:lstStyle/>
          <a:p>
            <a:endParaRPr lang="en-US"/>
          </a:p>
        </p:txBody>
      </p:sp>
      <p:sp>
        <p:nvSpPr>
          <p:cNvPr id="5" name="Text 3"/>
          <p:cNvSpPr/>
          <p:nvPr/>
        </p:nvSpPr>
        <p:spPr>
          <a:xfrm>
            <a:off x="438912" y="9509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932688" y="914400"/>
            <a:ext cx="1554480" cy="475488"/>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The Problem: </a:t>
            </a:r>
            <a:endParaRPr lang="en-US" sz="1250" dirty="0"/>
          </a:p>
        </p:txBody>
      </p:sp>
      <p:sp>
        <p:nvSpPr>
          <p:cNvPr id="7" name="Text 5"/>
          <p:cNvSpPr/>
          <p:nvPr/>
        </p:nvSpPr>
        <p:spPr>
          <a:xfrm>
            <a:off x="2331720" y="914400"/>
            <a:ext cx="4023360" cy="713232"/>
          </a:xfrm>
          <a:prstGeom prst="rect">
            <a:avLst/>
          </a:prstGeom>
          <a:noFill/>
          <a:ln/>
        </p:spPr>
        <p:txBody>
          <a:bodyPr wrap="square" rtlCol="0" anchor="ctr"/>
          <a:lstStyle/>
          <a:p>
            <a:pPr marL="0" indent="0">
              <a:buNone/>
            </a:pPr>
            <a:r>
              <a:rPr lang="en-US" sz="1200" dirty="0">
                <a:solidFill>
                  <a:srgbClr val="CCEDE9"/>
                </a:solidFill>
                <a:latin typeface="Calibri" pitchFamily="34" charset="0"/>
                <a:ea typeface="Calibri" pitchFamily="34" charset="-122"/>
                <a:cs typeface="Calibri" pitchFamily="34" charset="-120"/>
              </a:rPr>
              <a:t>Standard LOCO is distorted by feature correlation — a widely used metric that quietly gives wrong answers.</a:t>
            </a:r>
            <a:endParaRPr lang="en-US" sz="1200" dirty="0"/>
          </a:p>
        </p:txBody>
      </p:sp>
      <p:sp>
        <p:nvSpPr>
          <p:cNvPr id="8" name="Shape 6"/>
          <p:cNvSpPr/>
          <p:nvPr/>
        </p:nvSpPr>
        <p:spPr>
          <a:xfrm>
            <a:off x="438912" y="1792224"/>
            <a:ext cx="365760" cy="365760"/>
          </a:xfrm>
          <a:prstGeom prst="ellipse">
            <a:avLst/>
          </a:prstGeom>
          <a:solidFill>
            <a:srgbClr val="0D9488"/>
          </a:solidFill>
          <a:ln/>
        </p:spPr>
        <p:txBody>
          <a:bodyPr/>
          <a:lstStyle/>
          <a:p>
            <a:endParaRPr lang="en-US"/>
          </a:p>
        </p:txBody>
      </p:sp>
      <p:sp>
        <p:nvSpPr>
          <p:cNvPr id="9" name="Text 7"/>
          <p:cNvSpPr/>
          <p:nvPr/>
        </p:nvSpPr>
        <p:spPr>
          <a:xfrm>
            <a:off x="438912" y="17739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932688" y="1737360"/>
            <a:ext cx="1554480" cy="475488"/>
          </a:xfrm>
          <a:prstGeom prst="rect">
            <a:avLst/>
          </a:prstGeom>
          <a:noFill/>
          <a:ln/>
        </p:spPr>
        <p:txBody>
          <a:bodyPr wrap="square" lIns="0" tIns="0" rIns="0" bIns="0" rtlCol="0" anchor="ctr"/>
          <a:lstStyle/>
          <a:p>
            <a:pPr marL="0" indent="0">
              <a:buNone/>
            </a:pPr>
            <a:r>
              <a:rPr lang="en-US" sz="1250" b="1" dirty="0">
                <a:solidFill>
                  <a:srgbClr val="0D9488"/>
                </a:solidFill>
                <a:latin typeface="Trebuchet MS" pitchFamily="34" charset="0"/>
                <a:ea typeface="Trebuchet MS" pitchFamily="34" charset="-122"/>
                <a:cs typeface="Trebuchet MS" pitchFamily="34" charset="-120"/>
              </a:rPr>
              <a:t>The Theoretical Fix: </a:t>
            </a:r>
            <a:endParaRPr lang="en-US" sz="1250" dirty="0"/>
          </a:p>
        </p:txBody>
      </p:sp>
      <p:sp>
        <p:nvSpPr>
          <p:cNvPr id="11" name="Text 9"/>
          <p:cNvSpPr/>
          <p:nvPr/>
        </p:nvSpPr>
        <p:spPr>
          <a:xfrm>
            <a:off x="2331720" y="1737360"/>
            <a:ext cx="4023360" cy="713232"/>
          </a:xfrm>
          <a:prstGeom prst="rect">
            <a:avLst/>
          </a:prstGeom>
          <a:noFill/>
          <a:ln/>
        </p:spPr>
        <p:txBody>
          <a:bodyPr wrap="square" rtlCol="0" anchor="ctr"/>
          <a:lstStyle/>
          <a:p>
            <a:pPr marL="0" indent="0">
              <a:buNone/>
            </a:pPr>
            <a:r>
              <a:rPr lang="en-US" sz="1200" dirty="0">
                <a:solidFill>
                  <a:srgbClr val="CCEDE9"/>
                </a:solidFill>
                <a:latin typeface="Calibri" pitchFamily="34" charset="0"/>
                <a:ea typeface="Calibri" pitchFamily="34" charset="-122"/>
                <a:cs typeface="Calibri" pitchFamily="34" charset="-120"/>
              </a:rPr>
              <a:t>ψ₀ eliminates distortion via a counterfactual independence distribution. Correct estimand, hard to estimate.</a:t>
            </a:r>
            <a:endParaRPr lang="en-US" sz="1200" dirty="0"/>
          </a:p>
        </p:txBody>
      </p:sp>
      <p:sp>
        <p:nvSpPr>
          <p:cNvPr id="12" name="Shape 10"/>
          <p:cNvSpPr/>
          <p:nvPr/>
        </p:nvSpPr>
        <p:spPr>
          <a:xfrm>
            <a:off x="438912" y="2615184"/>
            <a:ext cx="365760" cy="365760"/>
          </a:xfrm>
          <a:prstGeom prst="ellipse">
            <a:avLst/>
          </a:prstGeom>
          <a:solidFill>
            <a:srgbClr val="0D9488"/>
          </a:solidFill>
          <a:ln/>
        </p:spPr>
        <p:txBody>
          <a:bodyPr/>
          <a:lstStyle/>
          <a:p>
            <a:endParaRPr lang="en-US"/>
          </a:p>
        </p:txBody>
      </p:sp>
      <p:sp>
        <p:nvSpPr>
          <p:cNvPr id="13" name="Text 11"/>
          <p:cNvSpPr/>
          <p:nvPr/>
        </p:nvSpPr>
        <p:spPr>
          <a:xfrm>
            <a:off x="438912" y="25968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932688" y="2560320"/>
            <a:ext cx="1554480" cy="475488"/>
          </a:xfrm>
          <a:prstGeom prst="rect">
            <a:avLst/>
          </a:prstGeom>
          <a:noFill/>
          <a:ln/>
        </p:spPr>
        <p:txBody>
          <a:bodyPr wrap="square" lIns="0" tIns="0" rIns="0" bIns="0" rtlCol="0" anchor="ctr"/>
          <a:lstStyle/>
          <a:p>
            <a:pPr marL="0" indent="0">
              <a:buNone/>
            </a:pPr>
            <a:r>
              <a:rPr lang="en-US" sz="1250" b="1" dirty="0">
                <a:solidFill>
                  <a:srgbClr val="0D9488"/>
                </a:solidFill>
                <a:latin typeface="Trebuchet MS" pitchFamily="34" charset="0"/>
                <a:ea typeface="Trebuchet MS" pitchFamily="34" charset="-122"/>
                <a:cs typeface="Trebuchet MS" pitchFamily="34" charset="-120"/>
              </a:rPr>
              <a:t>The Practical Fix: </a:t>
            </a:r>
            <a:endParaRPr lang="en-US" sz="1250" dirty="0"/>
          </a:p>
        </p:txBody>
      </p:sp>
      <p:sp>
        <p:nvSpPr>
          <p:cNvPr id="15" name="Text 13"/>
          <p:cNvSpPr/>
          <p:nvPr/>
        </p:nvSpPr>
        <p:spPr>
          <a:xfrm>
            <a:off x="2331720" y="2560320"/>
            <a:ext cx="4023360" cy="713232"/>
          </a:xfrm>
          <a:prstGeom prst="rect">
            <a:avLst/>
          </a:prstGeom>
          <a:noFill/>
          <a:ln/>
        </p:spPr>
        <p:txBody>
          <a:bodyPr wrap="square" rtlCol="0" anchor="ctr"/>
          <a:lstStyle/>
          <a:p>
            <a:pPr marL="0" indent="0">
              <a:buNone/>
            </a:pPr>
            <a:r>
              <a:rPr lang="en-US" sz="1200" dirty="0">
                <a:solidFill>
                  <a:srgbClr val="CCEDE9"/>
                </a:solidFill>
                <a:latin typeface="Calibri" pitchFamily="34" charset="0"/>
                <a:ea typeface="Calibri" pitchFamily="34" charset="-122"/>
                <a:cs typeface="Calibri" pitchFamily="34" charset="-120"/>
              </a:rPr>
              <a:t>Use ψ₃ (partially linear + interactions) with additive nuisance models and t-Cross CIs. Reliable in practice.</a:t>
            </a:r>
            <a:endParaRPr lang="en-US" sz="1200" dirty="0"/>
          </a:p>
        </p:txBody>
      </p:sp>
      <p:sp>
        <p:nvSpPr>
          <p:cNvPr id="16" name="Shape 14"/>
          <p:cNvSpPr/>
          <p:nvPr/>
        </p:nvSpPr>
        <p:spPr>
          <a:xfrm>
            <a:off x="438912" y="3438144"/>
            <a:ext cx="365760" cy="365760"/>
          </a:xfrm>
          <a:prstGeom prst="ellipse">
            <a:avLst/>
          </a:prstGeom>
          <a:solidFill>
            <a:srgbClr val="D97706"/>
          </a:solidFill>
          <a:ln/>
        </p:spPr>
        <p:txBody>
          <a:bodyPr/>
          <a:lstStyle/>
          <a:p>
            <a:endParaRPr lang="en-US"/>
          </a:p>
        </p:txBody>
      </p:sp>
      <p:sp>
        <p:nvSpPr>
          <p:cNvPr id="17" name="Text 15"/>
          <p:cNvSpPr/>
          <p:nvPr/>
        </p:nvSpPr>
        <p:spPr>
          <a:xfrm>
            <a:off x="438912" y="34198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932688" y="3383280"/>
            <a:ext cx="1554480" cy="475488"/>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Shapley ≠ Solution: </a:t>
            </a:r>
            <a:endParaRPr lang="en-US" sz="1250" dirty="0"/>
          </a:p>
        </p:txBody>
      </p:sp>
      <p:sp>
        <p:nvSpPr>
          <p:cNvPr id="19" name="Text 17"/>
          <p:cNvSpPr/>
          <p:nvPr/>
        </p:nvSpPr>
        <p:spPr>
          <a:xfrm>
            <a:off x="2331720" y="3383280"/>
            <a:ext cx="4023360" cy="713232"/>
          </a:xfrm>
          <a:prstGeom prst="rect">
            <a:avLst/>
          </a:prstGeom>
          <a:noFill/>
          <a:ln/>
        </p:spPr>
        <p:txBody>
          <a:bodyPr wrap="square" rtlCol="0" anchor="ctr"/>
          <a:lstStyle/>
          <a:p>
            <a:pPr marL="0" indent="0">
              <a:buNone/>
            </a:pPr>
            <a:r>
              <a:rPr lang="en-US" sz="1200" dirty="0">
                <a:solidFill>
                  <a:srgbClr val="CCEDE9"/>
                </a:solidFill>
                <a:latin typeface="Calibri" pitchFamily="34" charset="0"/>
                <a:ea typeface="Calibri" pitchFamily="34" charset="-122"/>
                <a:cs typeface="Calibri" pitchFamily="34" charset="-120"/>
              </a:rPr>
              <a:t>Despite popularity, Shapley values inherit the same distortion. Decorrelated LOCO is more principled.</a:t>
            </a:r>
            <a:endParaRPr lang="en-US" sz="1200" dirty="0"/>
          </a:p>
        </p:txBody>
      </p:sp>
      <p:sp>
        <p:nvSpPr>
          <p:cNvPr id="20" name="Shape 18"/>
          <p:cNvSpPr/>
          <p:nvPr/>
        </p:nvSpPr>
        <p:spPr>
          <a:xfrm>
            <a:off x="438912" y="4261104"/>
            <a:ext cx="365760" cy="365760"/>
          </a:xfrm>
          <a:prstGeom prst="ellipse">
            <a:avLst/>
          </a:prstGeom>
          <a:solidFill>
            <a:srgbClr val="6366F1"/>
          </a:solidFill>
          <a:ln/>
        </p:spPr>
        <p:txBody>
          <a:bodyPr/>
          <a:lstStyle/>
          <a:p>
            <a:endParaRPr lang="en-US"/>
          </a:p>
        </p:txBody>
      </p:sp>
      <p:sp>
        <p:nvSpPr>
          <p:cNvPr id="21" name="Text 19"/>
          <p:cNvSpPr/>
          <p:nvPr/>
        </p:nvSpPr>
        <p:spPr>
          <a:xfrm>
            <a:off x="438912" y="4242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932688" y="4206240"/>
            <a:ext cx="1554480" cy="475488"/>
          </a:xfrm>
          <a:prstGeom prst="rect">
            <a:avLst/>
          </a:prstGeom>
          <a:noFill/>
          <a:ln/>
        </p:spPr>
        <p:txBody>
          <a:bodyPr wrap="square" lIns="0" tIns="0" rIns="0" bIns="0" rtlCol="0" anchor="ctr"/>
          <a:lstStyle/>
          <a:p>
            <a:pPr marL="0" indent="0">
              <a:buNone/>
            </a:pPr>
            <a:r>
              <a:rPr lang="en-US" sz="1250" b="1" dirty="0">
                <a:solidFill>
                  <a:srgbClr val="6366F1"/>
                </a:solidFill>
                <a:latin typeface="Trebuchet MS" pitchFamily="34" charset="0"/>
                <a:ea typeface="Trebuchet MS" pitchFamily="34" charset="-122"/>
                <a:cs typeface="Trebuchet MS" pitchFamily="34" charset="-120"/>
              </a:rPr>
              <a:t>Future Work: </a:t>
            </a:r>
            <a:endParaRPr lang="en-US" sz="1250" dirty="0"/>
          </a:p>
        </p:txBody>
      </p:sp>
      <p:sp>
        <p:nvSpPr>
          <p:cNvPr id="23" name="Text 21"/>
          <p:cNvSpPr/>
          <p:nvPr/>
        </p:nvSpPr>
        <p:spPr>
          <a:xfrm>
            <a:off x="2331720" y="4206240"/>
            <a:ext cx="4023360" cy="713232"/>
          </a:xfrm>
          <a:prstGeom prst="rect">
            <a:avLst/>
          </a:prstGeom>
          <a:noFill/>
          <a:ln/>
        </p:spPr>
        <p:txBody>
          <a:bodyPr wrap="square" rtlCol="0" anchor="ctr"/>
          <a:lstStyle/>
          <a:p>
            <a:pPr marL="0" indent="0">
              <a:buNone/>
            </a:pPr>
            <a:r>
              <a:rPr lang="en-US" sz="1200" dirty="0">
                <a:solidFill>
                  <a:srgbClr val="CCEDE9"/>
                </a:solidFill>
                <a:latin typeface="Calibri" pitchFamily="34" charset="0"/>
                <a:ea typeface="Calibri" pitchFamily="34" charset="-122"/>
                <a:cs typeface="Calibri" pitchFamily="34" charset="-120"/>
              </a:rPr>
              <a:t>Time-varying decorrelated importance for longitudinal / causal settings is a promising open direction.</a:t>
            </a:r>
            <a:endParaRPr lang="en-US" sz="1200" dirty="0"/>
          </a:p>
        </p:txBody>
      </p:sp>
      <p:sp>
        <p:nvSpPr>
          <p:cNvPr id="24" name="Text 22"/>
          <p:cNvSpPr/>
          <p:nvPr/>
        </p:nvSpPr>
        <p:spPr>
          <a:xfrm>
            <a:off x="457200" y="4800600"/>
            <a:ext cx="5943600" cy="256032"/>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Verdinelli &amp; Wasserman · JMLR 25 (2024) · 1–27</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63842"/>
    </mc:Choice>
    <mc:Fallback xmlns="">
      <p:transition spd="slow" advTm="63842"/>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2805</Words>
  <Application>Microsoft Macintosh PowerPoint</Application>
  <PresentationFormat>On-screen Show (16:9)</PresentationFormat>
  <Paragraphs>183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Decorrelated Variable Importance</dc:title>
  <dc:subject>PptxGenJS Presentation</dc:subject>
  <dc:creator>PptxGenJS</dc:creator>
  <cp:lastModifiedBy>Neeraj Kumar Singh</cp:lastModifiedBy>
  <cp:revision>11</cp:revision>
  <dcterms:created xsi:type="dcterms:W3CDTF">2026-05-04T01:20:21Z</dcterms:created>
  <dcterms:modified xsi:type="dcterms:W3CDTF">2026-05-04T03:19:33Z</dcterms:modified>
</cp:coreProperties>
</file>